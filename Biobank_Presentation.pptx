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10607040" y="640080"/>
            <a:ext cx="146304" cy="146304"/>
          </a:xfrm>
          <a:prstGeom prst="ellipse">
            <a:avLst/>
          </a:prstGeom>
          <a:solidFill>
            <a:srgbClr val="02C39A"/>
          </a:solidFill>
          <a:ln/>
        </p:spPr>
      </p:sp>
      <p:sp>
        <p:nvSpPr>
          <p:cNvPr id="3" name="Shape 1"/>
          <p:cNvSpPr/>
          <p:nvPr/>
        </p:nvSpPr>
        <p:spPr>
          <a:xfrm>
            <a:off x="11064240" y="1051560"/>
            <a:ext cx="146304" cy="146304"/>
          </a:xfrm>
          <a:prstGeom prst="ellipse">
            <a:avLst/>
          </a:prstGeom>
          <a:solidFill>
            <a:srgbClr val="00A896"/>
          </a:solidFill>
          <a:ln/>
        </p:spPr>
      </p:sp>
      <p:sp>
        <p:nvSpPr>
          <p:cNvPr id="4" name="Shape 2"/>
          <p:cNvSpPr/>
          <p:nvPr/>
        </p:nvSpPr>
        <p:spPr>
          <a:xfrm>
            <a:off x="10241280" y="1234440"/>
            <a:ext cx="146304" cy="146304"/>
          </a:xfrm>
          <a:prstGeom prst="ellipse">
            <a:avLst/>
          </a:prstGeom>
          <a:solidFill>
            <a:srgbClr val="028090"/>
          </a:solidFill>
          <a:ln/>
        </p:spPr>
      </p:sp>
      <p:sp>
        <p:nvSpPr>
          <p:cNvPr id="5" name="Shape 3"/>
          <p:cNvSpPr/>
          <p:nvPr/>
        </p:nvSpPr>
        <p:spPr>
          <a:xfrm>
            <a:off x="822960" y="5760720"/>
            <a:ext cx="146304" cy="146304"/>
          </a:xfrm>
          <a:prstGeom prst="ellipse">
            <a:avLst/>
          </a:prstGeom>
          <a:solidFill>
            <a:srgbClr val="00A896"/>
          </a:solidFill>
          <a:ln/>
        </p:spPr>
      </p:sp>
      <p:sp>
        <p:nvSpPr>
          <p:cNvPr id="6" name="Shape 4"/>
          <p:cNvSpPr/>
          <p:nvPr/>
        </p:nvSpPr>
        <p:spPr>
          <a:xfrm>
            <a:off x="1234440" y="6126480"/>
            <a:ext cx="146304" cy="146304"/>
          </a:xfrm>
          <a:prstGeom prst="ellipse">
            <a:avLst/>
          </a:prstGeom>
          <a:solidFill>
            <a:srgbClr val="02C39A"/>
          </a:solidFill>
          <a:ln/>
        </p:spPr>
      </p:sp>
      <p:sp>
        <p:nvSpPr>
          <p:cNvPr id="7" name="Shape 5"/>
          <p:cNvSpPr/>
          <p:nvPr/>
        </p:nvSpPr>
        <p:spPr>
          <a:xfrm>
            <a:off x="548640" y="6263640"/>
            <a:ext cx="146304" cy="146304"/>
          </a:xfrm>
          <a:prstGeom prst="ellipse">
            <a:avLst/>
          </a:prstGeom>
          <a:solidFill>
            <a:srgbClr val="028090"/>
          </a:solidFill>
          <a:ln/>
        </p:spPr>
      </p:sp>
      <p:sp>
        <p:nvSpPr>
          <p:cNvPr id="8" name="Text 6"/>
          <p:cNvSpPr/>
          <p:nvPr/>
        </p:nvSpPr>
        <p:spPr>
          <a:xfrm>
            <a:off x="822960" y="1417320"/>
            <a:ext cx="9144000" cy="365760"/>
          </a:xfrm>
          <a:prstGeom prst="rect">
            <a:avLst/>
          </a:prstGeom>
          <a:noFill/>
          <a:ln/>
        </p:spPr>
        <p:txBody>
          <a:bodyPr wrap="square"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CBIO204 — FUNDAMENTALS OF DATABASES</a:t>
            </a:r>
            <a:endParaRPr lang="en-US" sz="1400" dirty="0"/>
          </a:p>
        </p:txBody>
      </p:sp>
      <p:sp>
        <p:nvSpPr>
          <p:cNvPr id="9" name="Text 7"/>
          <p:cNvSpPr/>
          <p:nvPr/>
        </p:nvSpPr>
        <p:spPr>
          <a:xfrm>
            <a:off x="822960" y="1874520"/>
            <a:ext cx="9875520" cy="1920240"/>
          </a:xfrm>
          <a:prstGeom prst="rect">
            <a:avLst/>
          </a:prstGeom>
          <a:noFill/>
          <a:ln/>
        </p:spPr>
        <p:txBody>
          <a:bodyPr wrap="square"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Biobank &amp; Biospecimen</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Management System</a:t>
            </a:r>
            <a:endParaRPr lang="en-US" sz="4600" dirty="0"/>
          </a:p>
        </p:txBody>
      </p:sp>
      <p:sp>
        <p:nvSpPr>
          <p:cNvPr id="10" name="Text 8"/>
          <p:cNvSpPr/>
          <p:nvPr/>
        </p:nvSpPr>
        <p:spPr>
          <a:xfrm>
            <a:off x="822960" y="3703320"/>
            <a:ext cx="8686800" cy="640080"/>
          </a:xfrm>
          <a:prstGeom prst="rect">
            <a:avLst/>
          </a:prstGeom>
          <a:noFill/>
          <a:ln/>
        </p:spPr>
        <p:txBody>
          <a:bodyPr wrap="square" rtlCol="0" anchor="ctr"/>
          <a:lstStyle/>
          <a:p>
            <a:pPr indent="0" marL="0">
              <a:buNone/>
            </a:pPr>
            <a:r>
              <a:rPr lang="en-US" sz="1500" i="1" dirty="0">
                <a:solidFill>
                  <a:srgbClr val="BFE3E0"/>
                </a:solidFill>
                <a:latin typeface="Calibri" pitchFamily="34" charset="0"/>
                <a:ea typeface="Calibri" pitchFamily="34" charset="-122"/>
                <a:cs typeface="Calibri" pitchFamily="34" charset="-120"/>
              </a:rPr>
              <a:t>A Relational Database for Managing Donors, Samples, Storage,</a:t>
            </a:r>
            <a:endParaRPr lang="en-US" sz="1500" dirty="0"/>
          </a:p>
          <a:p>
            <a:pPr indent="0" marL="0">
              <a:buNone/>
            </a:pPr>
            <a:r>
              <a:rPr lang="en-US" sz="1500" i="1" dirty="0">
                <a:solidFill>
                  <a:srgbClr val="BFE3E0"/>
                </a:solidFill>
                <a:latin typeface="Calibri" pitchFamily="34" charset="0"/>
                <a:ea typeface="Calibri" pitchFamily="34" charset="-122"/>
                <a:cs typeface="Calibri" pitchFamily="34" charset="-120"/>
              </a:rPr>
              <a:t>and Research Activity</a:t>
            </a:r>
            <a:endParaRPr lang="en-US" sz="1500" dirty="0"/>
          </a:p>
        </p:txBody>
      </p:sp>
      <p:sp>
        <p:nvSpPr>
          <p:cNvPr id="11" name="Shape 9"/>
          <p:cNvSpPr/>
          <p:nvPr/>
        </p:nvSpPr>
        <p:spPr>
          <a:xfrm>
            <a:off x="822960" y="4709160"/>
            <a:ext cx="4206240" cy="1051560"/>
          </a:xfrm>
          <a:prstGeom prst="roundRect">
            <a:avLst>
              <a:gd name="adj" fmla="val 6957"/>
            </a:avLst>
          </a:prstGeom>
          <a:solidFill>
            <a:srgbClr val="0B4547"/>
          </a:solidFill>
          <a:ln/>
        </p:spPr>
      </p:sp>
      <p:sp>
        <p:nvSpPr>
          <p:cNvPr id="12" name="Text 10"/>
          <p:cNvSpPr/>
          <p:nvPr/>
        </p:nvSpPr>
        <p:spPr>
          <a:xfrm>
            <a:off x="1051560" y="4864608"/>
            <a:ext cx="3749040" cy="77724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Mohamed Rateb</a:t>
            </a:r>
            <a:endParaRPr lang="en-US" sz="1500" dirty="0"/>
          </a:p>
          <a:p>
            <a:pPr indent="0" marL="0">
              <a:buNone/>
            </a:pPr>
            <a:r>
              <a:rPr lang="en-US" sz="1200" dirty="0">
                <a:solidFill>
                  <a:srgbClr val="BFE3E0"/>
                </a:solidFill>
                <a:latin typeface="Calibri" pitchFamily="34" charset="0"/>
                <a:ea typeface="Calibri" pitchFamily="34" charset="-122"/>
                <a:cs typeface="Calibri" pitchFamily="34" charset="-120"/>
              </a:rPr>
              <a:t>Student ID: 231002599</a:t>
            </a:r>
            <a:endParaRPr lang="en-US" sz="1500" dirty="0"/>
          </a:p>
          <a:p>
            <a:pPr indent="0" marL="0">
              <a:buNone/>
            </a:pPr>
            <a:r>
              <a:rPr lang="en-US" sz="1200" dirty="0">
                <a:solidFill>
                  <a:srgbClr val="BFE3E0"/>
                </a:solidFill>
                <a:latin typeface="Calibri" pitchFamily="34" charset="0"/>
                <a:ea typeface="Calibri" pitchFamily="34" charset="-122"/>
                <a:cs typeface="Calibri" pitchFamily="34" charset="-120"/>
              </a:rPr>
              <a:t>August 2026</a:t>
            </a:r>
            <a:endParaRPr lang="en-US" sz="1500" dirty="0"/>
          </a:p>
        </p:txBody>
      </p:sp>
      <p:sp>
        <p:nvSpPr>
          <p:cNvPr id="13" name="Text 11"/>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6FA8AA"/>
                </a:solidFill>
                <a:latin typeface="Calibri" pitchFamily="34" charset="0"/>
                <a:ea typeface="Calibri" pitchFamily="34" charset="-122"/>
                <a:cs typeface="Calibri" pitchFamily="34" charset="-120"/>
              </a:rPr>
              <a:t>Biobank &amp; Biospecimen Management System</a:t>
            </a:r>
            <a:endParaRPr lang="en-US" sz="900" dirty="0"/>
          </a:p>
        </p:txBody>
      </p:sp>
      <p:sp>
        <p:nvSpPr>
          <p:cNvPr id="14" name="Text 1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FA8A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0C2B2E"/>
                </a:solidFill>
                <a:latin typeface="Cambria" pitchFamily="34" charset="0"/>
                <a:ea typeface="Cambria" pitchFamily="34" charset="-122"/>
                <a:cs typeface="Cambria" pitchFamily="34" charset="-120"/>
              </a:rPr>
              <a:t>Problem &amp; Objectives</a:t>
            </a:r>
            <a:endParaRPr lang="en-US" sz="3200" dirty="0"/>
          </a:p>
        </p:txBody>
      </p:sp>
      <p:sp>
        <p:nvSpPr>
          <p:cNvPr id="4" name="Shape 2"/>
          <p:cNvSpPr/>
          <p:nvPr/>
        </p:nvSpPr>
        <p:spPr>
          <a:xfrm>
            <a:off x="548640" y="1691640"/>
            <a:ext cx="5440680" cy="4297680"/>
          </a:xfrm>
          <a:prstGeom prst="roundRect">
            <a:avLst>
              <a:gd name="adj" fmla="val 2128"/>
            </a:avLst>
          </a:prstGeom>
          <a:solidFill>
            <a:srgbClr val="F4FAF9"/>
          </a:solidFill>
          <a:ln/>
        </p:spPr>
      </p:sp>
      <p:sp>
        <p:nvSpPr>
          <p:cNvPr id="5" name="Shape 3"/>
          <p:cNvSpPr/>
          <p:nvPr/>
        </p:nvSpPr>
        <p:spPr>
          <a:xfrm>
            <a:off x="868680" y="1965960"/>
            <a:ext cx="457200" cy="457200"/>
          </a:xfrm>
          <a:prstGeom prst="ellipse">
            <a:avLst/>
          </a:prstGeom>
          <a:solidFill>
            <a:srgbClr val="028090"/>
          </a:solidFill>
          <a:ln/>
        </p:spPr>
      </p:sp>
      <p:sp>
        <p:nvSpPr>
          <p:cNvPr id="6" name="Text 4"/>
          <p:cNvSpPr/>
          <p:nvPr/>
        </p:nvSpPr>
        <p:spPr>
          <a:xfrm>
            <a:off x="868680" y="196596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463040" y="1993392"/>
            <a:ext cx="4206240" cy="411480"/>
          </a:xfrm>
          <a:prstGeom prst="rect">
            <a:avLst/>
          </a:prstGeom>
          <a:noFill/>
          <a:ln/>
        </p:spPr>
        <p:txBody>
          <a:bodyPr wrap="square" rtlCol="0" anchor="ctr"/>
          <a:lstStyle/>
          <a:p>
            <a:pPr indent="0" marL="0">
              <a:buNone/>
            </a:pPr>
            <a:r>
              <a:rPr lang="en-US" sz="1800" b="1" dirty="0">
                <a:solidFill>
                  <a:srgbClr val="0C2B2E"/>
                </a:solidFill>
                <a:latin typeface="Cambria" pitchFamily="34" charset="0"/>
                <a:ea typeface="Cambria" pitchFamily="34" charset="-122"/>
                <a:cs typeface="Cambria" pitchFamily="34" charset="-120"/>
              </a:rPr>
              <a:t>The Problem</a:t>
            </a:r>
            <a:endParaRPr lang="en-US" sz="1800" dirty="0"/>
          </a:p>
        </p:txBody>
      </p:sp>
      <p:sp>
        <p:nvSpPr>
          <p:cNvPr id="8" name="Text 6"/>
          <p:cNvSpPr/>
          <p:nvPr/>
        </p:nvSpPr>
        <p:spPr>
          <a:xfrm>
            <a:off x="868680" y="2514600"/>
            <a:ext cx="4846320" cy="3291840"/>
          </a:xfrm>
          <a:prstGeom prst="rect">
            <a:avLst/>
          </a:prstGeom>
          <a:noFill/>
          <a:ln/>
        </p:spPr>
        <p:txBody>
          <a:bodyPr wrap="square" rtlCol="0" anchor="t"/>
          <a:lstStyle/>
          <a:p>
            <a:pPr indent="0" marL="0">
              <a:lnSpc>
                <a:spcPct val="125000"/>
              </a:lnSpc>
              <a:buNone/>
            </a:pPr>
            <a:r>
              <a:rPr lang="en-US" sz="1400" dirty="0">
                <a:solidFill>
                  <a:srgbClr val="0C2B2E"/>
                </a:solidFill>
                <a:latin typeface="Calibri" pitchFamily="34" charset="0"/>
                <a:ea typeface="Calibri" pitchFamily="34" charset="-122"/>
                <a:cs typeface="Calibri" pitchFamily="34" charset="-120"/>
              </a:rPr>
              <a:t>Biobanks manage large volumes of information about donors, biological samples, storage locations, researchers, and lab activity. Tracking this manually makes it hard to trace samples, identify donors, locate storage, and monitor how samples are requested and used.</a:t>
            </a:r>
            <a:endParaRPr lang="en-US" sz="1400" dirty="0"/>
          </a:p>
        </p:txBody>
      </p:sp>
      <p:sp>
        <p:nvSpPr>
          <p:cNvPr id="9" name="Shape 7"/>
          <p:cNvSpPr/>
          <p:nvPr/>
        </p:nvSpPr>
        <p:spPr>
          <a:xfrm>
            <a:off x="6217920" y="1691640"/>
            <a:ext cx="5440680" cy="4297680"/>
          </a:xfrm>
          <a:prstGeom prst="roundRect">
            <a:avLst>
              <a:gd name="adj" fmla="val 2128"/>
            </a:avLst>
          </a:prstGeom>
          <a:solidFill>
            <a:srgbClr val="028090"/>
          </a:solidFill>
          <a:ln/>
        </p:spPr>
      </p:sp>
      <p:sp>
        <p:nvSpPr>
          <p:cNvPr id="10" name="Shape 8"/>
          <p:cNvSpPr/>
          <p:nvPr/>
        </p:nvSpPr>
        <p:spPr>
          <a:xfrm>
            <a:off x="6537960" y="1965960"/>
            <a:ext cx="457200" cy="457200"/>
          </a:xfrm>
          <a:prstGeom prst="ellipse">
            <a:avLst/>
          </a:prstGeom>
          <a:solidFill>
            <a:srgbClr val="02C39A"/>
          </a:solidFill>
          <a:ln/>
        </p:spPr>
      </p:sp>
      <p:sp>
        <p:nvSpPr>
          <p:cNvPr id="11" name="Text 9"/>
          <p:cNvSpPr/>
          <p:nvPr/>
        </p:nvSpPr>
        <p:spPr>
          <a:xfrm>
            <a:off x="6537960" y="196596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7132320" y="1993392"/>
            <a:ext cx="4206240" cy="4114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Project Objectives</a:t>
            </a:r>
            <a:endParaRPr lang="en-US" sz="1800" dirty="0"/>
          </a:p>
        </p:txBody>
      </p:sp>
      <p:sp>
        <p:nvSpPr>
          <p:cNvPr id="13" name="Text 11"/>
          <p:cNvSpPr/>
          <p:nvPr/>
        </p:nvSpPr>
        <p:spPr>
          <a:xfrm>
            <a:off x="6537960" y="2606040"/>
            <a:ext cx="4846320" cy="3200400"/>
          </a:xfrm>
          <a:prstGeom prst="rect">
            <a:avLst/>
          </a:prstGeom>
          <a:noFill/>
          <a:ln/>
        </p:spPr>
        <p:txBody>
          <a:bodyPr wrap="square" rtlCol="0" anchor="t"/>
          <a:lstStyle/>
          <a:p>
            <a:pPr marL="342900" indent="-342900">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Design a relational database covering the full biobank workflow</a:t>
            </a:r>
            <a:endParaRPr lang="en-US" sz="1350" dirty="0"/>
          </a:p>
          <a:p>
            <a:pPr marL="342900" indent="-342900">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Store donors, consent, samples, storage, and research requests</a:t>
            </a:r>
            <a:endParaRPr lang="en-US" sz="1350" dirty="0"/>
          </a:p>
          <a:p>
            <a:pPr marL="342900" indent="-342900">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Track aliquots, sample usage, and laboratory test requests</a:t>
            </a:r>
            <a:endParaRPr lang="en-US" sz="1350" dirty="0"/>
          </a:p>
          <a:p>
            <a:pPr marL="342900" indent="-342900">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Normalize the schema to 3NF and enforce business rules</a:t>
            </a:r>
            <a:endParaRPr lang="en-US" sz="1350" dirty="0"/>
          </a:p>
          <a:p>
            <a:pPr marL="342900" indent="-342900">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Implement in MySQL with views, a trigger, and tested queries</a:t>
            </a:r>
            <a:endParaRPr lang="en-US" sz="1350" dirty="0"/>
          </a:p>
        </p:txBody>
      </p:sp>
      <p:sp>
        <p:nvSpPr>
          <p:cNvPr id="14" name="Text 12"/>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5B7C7E"/>
                </a:solidFill>
                <a:latin typeface="Calibri" pitchFamily="34" charset="0"/>
                <a:ea typeface="Calibri" pitchFamily="34" charset="-122"/>
                <a:cs typeface="Calibri" pitchFamily="34" charset="-120"/>
              </a:rPr>
              <a:t>Biobank &amp; Biospecimen Management System</a:t>
            </a:r>
            <a:endParaRPr lang="en-US" sz="900" dirty="0"/>
          </a:p>
        </p:txBody>
      </p:sp>
      <p:sp>
        <p:nvSpPr>
          <p:cNvPr id="15" name="Text 1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7C7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SCOPE</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0C2B2E"/>
                </a:solidFill>
                <a:latin typeface="Cambria" pitchFamily="34" charset="0"/>
                <a:ea typeface="Cambria" pitchFamily="34" charset="-122"/>
                <a:cs typeface="Cambria" pitchFamily="34" charset="-120"/>
              </a:rPr>
              <a:t>Database Scope &amp; Business Rules</a:t>
            </a:r>
            <a:endParaRPr lang="en-US" sz="3200" dirty="0"/>
          </a:p>
        </p:txBody>
      </p:sp>
      <p:sp>
        <p:nvSpPr>
          <p:cNvPr id="4" name="Text 2"/>
          <p:cNvSpPr/>
          <p:nvPr/>
        </p:nvSpPr>
        <p:spPr>
          <a:xfrm>
            <a:off x="548640" y="1600200"/>
            <a:ext cx="5486400" cy="365760"/>
          </a:xfrm>
          <a:prstGeom prst="rect">
            <a:avLst/>
          </a:prstGeom>
          <a:noFill/>
          <a:ln/>
        </p:spPr>
        <p:txBody>
          <a:bodyPr wrap="square"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Project Scope</a:t>
            </a:r>
            <a:endParaRPr lang="en-US" sz="1700" dirty="0"/>
          </a:p>
        </p:txBody>
      </p:sp>
      <p:sp>
        <p:nvSpPr>
          <p:cNvPr id="5" name="Shape 3"/>
          <p:cNvSpPr/>
          <p:nvPr/>
        </p:nvSpPr>
        <p:spPr>
          <a:xfrm>
            <a:off x="548640" y="2103120"/>
            <a:ext cx="2697480" cy="457200"/>
          </a:xfrm>
          <a:prstGeom prst="roundRect">
            <a:avLst>
              <a:gd name="adj" fmla="val 12000"/>
            </a:avLst>
          </a:prstGeom>
          <a:solidFill>
            <a:srgbClr val="F4FAF9"/>
          </a:solidFill>
          <a:ln/>
        </p:spPr>
      </p:sp>
      <p:sp>
        <p:nvSpPr>
          <p:cNvPr id="6" name="Text 4"/>
          <p:cNvSpPr/>
          <p:nvPr/>
        </p:nvSpPr>
        <p:spPr>
          <a:xfrm>
            <a:off x="685800" y="2103120"/>
            <a:ext cx="2423160" cy="457200"/>
          </a:xfrm>
          <a:prstGeom prst="rect">
            <a:avLst/>
          </a:prstGeom>
          <a:noFill/>
          <a:ln/>
        </p:spPr>
        <p:txBody>
          <a:bodyPr wrap="square" rtlCol="0" anchor="ctr"/>
          <a:lstStyle/>
          <a:p>
            <a:pPr indent="0" marL="0">
              <a:buNone/>
            </a:pPr>
            <a:r>
              <a:rPr lang="en-US" sz="1150" dirty="0">
                <a:solidFill>
                  <a:srgbClr val="0C2B2E"/>
                </a:solidFill>
                <a:latin typeface="Calibri" pitchFamily="34" charset="0"/>
                <a:ea typeface="Calibri" pitchFamily="34" charset="-122"/>
                <a:cs typeface="Calibri" pitchFamily="34" charset="-120"/>
              </a:rPr>
              <a:t>Donor information &amp; consent</a:t>
            </a:r>
            <a:endParaRPr lang="en-US" sz="1150" dirty="0"/>
          </a:p>
        </p:txBody>
      </p:sp>
      <p:sp>
        <p:nvSpPr>
          <p:cNvPr id="7" name="Shape 5"/>
          <p:cNvSpPr/>
          <p:nvPr/>
        </p:nvSpPr>
        <p:spPr>
          <a:xfrm>
            <a:off x="3429000" y="2103120"/>
            <a:ext cx="2697480" cy="457200"/>
          </a:xfrm>
          <a:prstGeom prst="roundRect">
            <a:avLst>
              <a:gd name="adj" fmla="val 12000"/>
            </a:avLst>
          </a:prstGeom>
          <a:solidFill>
            <a:srgbClr val="F4FAF9"/>
          </a:solidFill>
          <a:ln/>
        </p:spPr>
      </p:sp>
      <p:sp>
        <p:nvSpPr>
          <p:cNvPr id="8" name="Text 6"/>
          <p:cNvSpPr/>
          <p:nvPr/>
        </p:nvSpPr>
        <p:spPr>
          <a:xfrm>
            <a:off x="3566160" y="2103120"/>
            <a:ext cx="2423160" cy="457200"/>
          </a:xfrm>
          <a:prstGeom prst="rect">
            <a:avLst/>
          </a:prstGeom>
          <a:noFill/>
          <a:ln/>
        </p:spPr>
        <p:txBody>
          <a:bodyPr wrap="square" rtlCol="0" anchor="ctr"/>
          <a:lstStyle/>
          <a:p>
            <a:pPr indent="0" marL="0">
              <a:buNone/>
            </a:pPr>
            <a:r>
              <a:rPr lang="en-US" sz="1150" dirty="0">
                <a:solidFill>
                  <a:srgbClr val="0C2B2E"/>
                </a:solidFill>
                <a:latin typeface="Calibri" pitchFamily="34" charset="0"/>
                <a:ea typeface="Calibri" pitchFamily="34" charset="-122"/>
                <a:cs typeface="Calibri" pitchFamily="34" charset="-120"/>
              </a:rPr>
              <a:t>Sample collection events</a:t>
            </a:r>
            <a:endParaRPr lang="en-US" sz="1150" dirty="0"/>
          </a:p>
        </p:txBody>
      </p:sp>
      <p:sp>
        <p:nvSpPr>
          <p:cNvPr id="9" name="Shape 7"/>
          <p:cNvSpPr/>
          <p:nvPr/>
        </p:nvSpPr>
        <p:spPr>
          <a:xfrm>
            <a:off x="548640" y="2670048"/>
            <a:ext cx="2697480" cy="457200"/>
          </a:xfrm>
          <a:prstGeom prst="roundRect">
            <a:avLst>
              <a:gd name="adj" fmla="val 12000"/>
            </a:avLst>
          </a:prstGeom>
          <a:solidFill>
            <a:srgbClr val="F4FAF9"/>
          </a:solidFill>
          <a:ln/>
        </p:spPr>
      </p:sp>
      <p:sp>
        <p:nvSpPr>
          <p:cNvPr id="10" name="Text 8"/>
          <p:cNvSpPr/>
          <p:nvPr/>
        </p:nvSpPr>
        <p:spPr>
          <a:xfrm>
            <a:off x="685800" y="2670048"/>
            <a:ext cx="2423160" cy="457200"/>
          </a:xfrm>
          <a:prstGeom prst="rect">
            <a:avLst/>
          </a:prstGeom>
          <a:noFill/>
          <a:ln/>
        </p:spPr>
        <p:txBody>
          <a:bodyPr wrap="square" rtlCol="0" anchor="ctr"/>
          <a:lstStyle/>
          <a:p>
            <a:pPr indent="0" marL="0">
              <a:buNone/>
            </a:pPr>
            <a:r>
              <a:rPr lang="en-US" sz="1150" dirty="0">
                <a:solidFill>
                  <a:srgbClr val="0C2B2E"/>
                </a:solidFill>
                <a:latin typeface="Calibri" pitchFamily="34" charset="0"/>
                <a:ea typeface="Calibri" pitchFamily="34" charset="-122"/>
                <a:cs typeface="Calibri" pitchFamily="34" charset="-120"/>
              </a:rPr>
              <a:t>Sample types &amp; tracking</a:t>
            </a:r>
            <a:endParaRPr lang="en-US" sz="1150" dirty="0"/>
          </a:p>
        </p:txBody>
      </p:sp>
      <p:sp>
        <p:nvSpPr>
          <p:cNvPr id="11" name="Shape 9"/>
          <p:cNvSpPr/>
          <p:nvPr/>
        </p:nvSpPr>
        <p:spPr>
          <a:xfrm>
            <a:off x="3429000" y="2670048"/>
            <a:ext cx="2697480" cy="457200"/>
          </a:xfrm>
          <a:prstGeom prst="roundRect">
            <a:avLst>
              <a:gd name="adj" fmla="val 12000"/>
            </a:avLst>
          </a:prstGeom>
          <a:solidFill>
            <a:srgbClr val="F4FAF9"/>
          </a:solidFill>
          <a:ln/>
        </p:spPr>
      </p:sp>
      <p:sp>
        <p:nvSpPr>
          <p:cNvPr id="12" name="Text 10"/>
          <p:cNvSpPr/>
          <p:nvPr/>
        </p:nvSpPr>
        <p:spPr>
          <a:xfrm>
            <a:off x="3566160" y="2670048"/>
            <a:ext cx="2423160" cy="457200"/>
          </a:xfrm>
          <a:prstGeom prst="rect">
            <a:avLst/>
          </a:prstGeom>
          <a:noFill/>
          <a:ln/>
        </p:spPr>
        <p:txBody>
          <a:bodyPr wrap="square" rtlCol="0" anchor="ctr"/>
          <a:lstStyle/>
          <a:p>
            <a:pPr indent="0" marL="0">
              <a:buNone/>
            </a:pPr>
            <a:r>
              <a:rPr lang="en-US" sz="1150" dirty="0">
                <a:solidFill>
                  <a:srgbClr val="0C2B2E"/>
                </a:solidFill>
                <a:latin typeface="Calibri" pitchFamily="34" charset="0"/>
                <a:ea typeface="Calibri" pitchFamily="34" charset="-122"/>
                <a:cs typeface="Calibri" pitchFamily="34" charset="-120"/>
              </a:rPr>
              <a:t>Storage locations &amp; aliquots</a:t>
            </a:r>
            <a:endParaRPr lang="en-US" sz="1150" dirty="0"/>
          </a:p>
        </p:txBody>
      </p:sp>
      <p:sp>
        <p:nvSpPr>
          <p:cNvPr id="13" name="Shape 11"/>
          <p:cNvSpPr/>
          <p:nvPr/>
        </p:nvSpPr>
        <p:spPr>
          <a:xfrm>
            <a:off x="548640" y="3236976"/>
            <a:ext cx="2697480" cy="457200"/>
          </a:xfrm>
          <a:prstGeom prst="roundRect">
            <a:avLst>
              <a:gd name="adj" fmla="val 12000"/>
            </a:avLst>
          </a:prstGeom>
          <a:solidFill>
            <a:srgbClr val="F4FAF9"/>
          </a:solidFill>
          <a:ln/>
        </p:spPr>
      </p:sp>
      <p:sp>
        <p:nvSpPr>
          <p:cNvPr id="14" name="Text 12"/>
          <p:cNvSpPr/>
          <p:nvPr/>
        </p:nvSpPr>
        <p:spPr>
          <a:xfrm>
            <a:off x="685800" y="3236976"/>
            <a:ext cx="2423160" cy="457200"/>
          </a:xfrm>
          <a:prstGeom prst="rect">
            <a:avLst/>
          </a:prstGeom>
          <a:noFill/>
          <a:ln/>
        </p:spPr>
        <p:txBody>
          <a:bodyPr wrap="square" rtlCol="0" anchor="ctr"/>
          <a:lstStyle/>
          <a:p>
            <a:pPr indent="0" marL="0">
              <a:buNone/>
            </a:pPr>
            <a:r>
              <a:rPr lang="en-US" sz="1150" dirty="0">
                <a:solidFill>
                  <a:srgbClr val="0C2B2E"/>
                </a:solidFill>
                <a:latin typeface="Calibri" pitchFamily="34" charset="0"/>
                <a:ea typeface="Calibri" pitchFamily="34" charset="-122"/>
                <a:cs typeface="Calibri" pitchFamily="34" charset="-120"/>
              </a:rPr>
              <a:t>Researchers &amp; sample requests</a:t>
            </a:r>
            <a:endParaRPr lang="en-US" sz="1150" dirty="0"/>
          </a:p>
        </p:txBody>
      </p:sp>
      <p:sp>
        <p:nvSpPr>
          <p:cNvPr id="15" name="Shape 13"/>
          <p:cNvSpPr/>
          <p:nvPr/>
        </p:nvSpPr>
        <p:spPr>
          <a:xfrm>
            <a:off x="3429000" y="3236976"/>
            <a:ext cx="2697480" cy="457200"/>
          </a:xfrm>
          <a:prstGeom prst="roundRect">
            <a:avLst>
              <a:gd name="adj" fmla="val 12000"/>
            </a:avLst>
          </a:prstGeom>
          <a:solidFill>
            <a:srgbClr val="F4FAF9"/>
          </a:solidFill>
          <a:ln/>
        </p:spPr>
      </p:sp>
      <p:sp>
        <p:nvSpPr>
          <p:cNvPr id="16" name="Text 14"/>
          <p:cNvSpPr/>
          <p:nvPr/>
        </p:nvSpPr>
        <p:spPr>
          <a:xfrm>
            <a:off x="3566160" y="3236976"/>
            <a:ext cx="2423160" cy="457200"/>
          </a:xfrm>
          <a:prstGeom prst="rect">
            <a:avLst/>
          </a:prstGeom>
          <a:noFill/>
          <a:ln/>
        </p:spPr>
        <p:txBody>
          <a:bodyPr wrap="square" rtlCol="0" anchor="ctr"/>
          <a:lstStyle/>
          <a:p>
            <a:pPr indent="0" marL="0">
              <a:buNone/>
            </a:pPr>
            <a:r>
              <a:rPr lang="en-US" sz="1150" dirty="0">
                <a:solidFill>
                  <a:srgbClr val="0C2B2E"/>
                </a:solidFill>
                <a:latin typeface="Calibri" pitchFamily="34" charset="0"/>
                <a:ea typeface="Calibri" pitchFamily="34" charset="-122"/>
                <a:cs typeface="Calibri" pitchFamily="34" charset="-120"/>
              </a:rPr>
              <a:t>Sample usage &amp; lab test requests</a:t>
            </a:r>
            <a:endParaRPr lang="en-US" sz="1150" dirty="0"/>
          </a:p>
        </p:txBody>
      </p:sp>
      <p:sp>
        <p:nvSpPr>
          <p:cNvPr id="17" name="Text 15"/>
          <p:cNvSpPr/>
          <p:nvPr/>
        </p:nvSpPr>
        <p:spPr>
          <a:xfrm>
            <a:off x="548640" y="3977640"/>
            <a:ext cx="5532120" cy="457200"/>
          </a:xfrm>
          <a:prstGeom prst="rect">
            <a:avLst/>
          </a:prstGeom>
          <a:noFill/>
          <a:ln/>
        </p:spPr>
        <p:txBody>
          <a:bodyPr wrap="square" rtlCol="0" anchor="ctr"/>
          <a:lstStyle/>
          <a:p>
            <a:pPr indent="0" marL="0">
              <a:buNone/>
            </a:pPr>
            <a:r>
              <a:rPr lang="en-US" sz="1150" i="1" dirty="0">
                <a:solidFill>
                  <a:srgbClr val="5B7C7E"/>
                </a:solidFill>
                <a:latin typeface="Calibri" pitchFamily="34" charset="0"/>
                <a:ea typeface="Calibri" pitchFamily="34" charset="-122"/>
                <a:cs typeface="Calibri" pitchFamily="34" charset="-120"/>
              </a:rPr>
              <a:t>Focus: database management only — no GUI is included in the core system.</a:t>
            </a:r>
            <a:endParaRPr lang="en-US" sz="1150" dirty="0"/>
          </a:p>
        </p:txBody>
      </p:sp>
      <p:sp>
        <p:nvSpPr>
          <p:cNvPr id="18" name="Shape 16"/>
          <p:cNvSpPr/>
          <p:nvPr/>
        </p:nvSpPr>
        <p:spPr>
          <a:xfrm>
            <a:off x="6400800" y="1600200"/>
            <a:ext cx="5257800" cy="4572000"/>
          </a:xfrm>
          <a:prstGeom prst="roundRect">
            <a:avLst>
              <a:gd name="adj" fmla="val 2000"/>
            </a:avLst>
          </a:prstGeom>
          <a:solidFill>
            <a:srgbClr val="023436"/>
          </a:solidFill>
          <a:ln/>
        </p:spPr>
      </p:sp>
      <p:sp>
        <p:nvSpPr>
          <p:cNvPr id="19" name="Text 17"/>
          <p:cNvSpPr/>
          <p:nvPr/>
        </p:nvSpPr>
        <p:spPr>
          <a:xfrm>
            <a:off x="6720840" y="1783080"/>
            <a:ext cx="4572000" cy="365760"/>
          </a:xfrm>
          <a:prstGeom prst="rect">
            <a:avLst/>
          </a:prstGeom>
          <a:noFill/>
          <a:ln/>
        </p:spPr>
        <p:txBody>
          <a:bodyPr wrap="square"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Key Business Rules</a:t>
            </a:r>
            <a:endParaRPr lang="en-US" sz="1600" dirty="0"/>
          </a:p>
        </p:txBody>
      </p:sp>
      <p:sp>
        <p:nvSpPr>
          <p:cNvPr id="20" name="Text 18"/>
          <p:cNvSpPr/>
          <p:nvPr/>
        </p:nvSpPr>
        <p:spPr>
          <a:xfrm>
            <a:off x="6720840" y="2240280"/>
            <a:ext cx="4709160" cy="3794760"/>
          </a:xfrm>
          <a:prstGeom prst="rect">
            <a:avLst/>
          </a:prstGeom>
          <a:noFill/>
          <a:ln/>
        </p:spPr>
        <p:txBody>
          <a:bodyPr wrap="square"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Each donor has a unique donor code; each sample belongs to one collection event</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Each aliquot belongs to one sample and one storage location</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A sample can be requested by multiple researchers</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Storage position (freezer + rack + box + position) must be unique</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Sample and aliquot volumes must be greater than zero</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Only anonymized donor identifiers are used</a:t>
            </a:r>
            <a:endParaRPr lang="en-US" sz="1250" dirty="0"/>
          </a:p>
        </p:txBody>
      </p:sp>
      <p:sp>
        <p:nvSpPr>
          <p:cNvPr id="21" name="Text 19"/>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5B7C7E"/>
                </a:solidFill>
                <a:latin typeface="Calibri" pitchFamily="34" charset="0"/>
                <a:ea typeface="Calibri" pitchFamily="34" charset="-122"/>
                <a:cs typeface="Calibri" pitchFamily="34" charset="-120"/>
              </a:rPr>
              <a:t>Biobank &amp; Biospecimen Management System</a:t>
            </a:r>
            <a:endParaRPr lang="en-US" sz="900" dirty="0"/>
          </a:p>
        </p:txBody>
      </p:sp>
      <p:sp>
        <p:nvSpPr>
          <p:cNvPr id="22" name="Text 2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7C7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DESIGN</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0C2B2E"/>
                </a:solidFill>
                <a:latin typeface="Cambria" pitchFamily="34" charset="0"/>
                <a:ea typeface="Cambria" pitchFamily="34" charset="-122"/>
                <a:cs typeface="Cambria" pitchFamily="34" charset="-120"/>
              </a:rPr>
              <a:t>Entities &amp; Relationships</a:t>
            </a:r>
            <a:endParaRPr lang="en-US" sz="3200" dirty="0"/>
          </a:p>
        </p:txBody>
      </p:sp>
      <p:sp>
        <p:nvSpPr>
          <p:cNvPr id="4" name="Text 2"/>
          <p:cNvSpPr/>
          <p:nvPr/>
        </p:nvSpPr>
        <p:spPr>
          <a:xfrm>
            <a:off x="548640" y="1554480"/>
            <a:ext cx="10972800" cy="365760"/>
          </a:xfrm>
          <a:prstGeom prst="rect">
            <a:avLst/>
          </a:prstGeom>
          <a:noFill/>
          <a:ln/>
        </p:spPr>
        <p:txBody>
          <a:bodyPr wrap="square" rtlCol="0" anchor="ctr"/>
          <a:lstStyle/>
          <a:p>
            <a:pPr indent="0" marL="0">
              <a:buNone/>
            </a:pPr>
            <a:r>
              <a:rPr lang="en-US" sz="1300" i="1" dirty="0">
                <a:solidFill>
                  <a:srgbClr val="5B7C7E"/>
                </a:solidFill>
                <a:latin typeface="Calibri" pitchFamily="34" charset="0"/>
                <a:ea typeface="Calibri" pitchFamily="34" charset="-122"/>
                <a:cs typeface="Calibri" pitchFamily="34" charset="-120"/>
              </a:rPr>
              <a:t>11 core entities model the full sample lifecycle — from donor consent through storage, request, and use.</a:t>
            </a:r>
            <a:endParaRPr lang="en-US" sz="1300" dirty="0"/>
          </a:p>
        </p:txBody>
      </p:sp>
      <p:sp>
        <p:nvSpPr>
          <p:cNvPr id="5" name="Shape 3"/>
          <p:cNvSpPr/>
          <p:nvPr/>
        </p:nvSpPr>
        <p:spPr>
          <a:xfrm>
            <a:off x="548640" y="2148840"/>
            <a:ext cx="2697480" cy="777240"/>
          </a:xfrm>
          <a:prstGeom prst="roundRect">
            <a:avLst>
              <a:gd name="adj" fmla="val 9412"/>
            </a:avLst>
          </a:prstGeom>
          <a:solidFill>
            <a:srgbClr val="F4FAF9"/>
          </a:solidFill>
          <a:ln w="12700">
            <a:solidFill>
              <a:srgbClr val="D6EBE9"/>
            </a:solidFill>
            <a:prstDash val="solid"/>
          </a:ln>
        </p:spPr>
      </p:sp>
      <p:sp>
        <p:nvSpPr>
          <p:cNvPr id="6" name="Shape 4"/>
          <p:cNvSpPr/>
          <p:nvPr/>
        </p:nvSpPr>
        <p:spPr>
          <a:xfrm>
            <a:off x="685800" y="2286000"/>
            <a:ext cx="128016" cy="502920"/>
          </a:xfrm>
          <a:prstGeom prst="roundRect">
            <a:avLst>
              <a:gd name="adj" fmla="val 14286"/>
            </a:avLst>
          </a:prstGeom>
          <a:solidFill>
            <a:srgbClr val="028090"/>
          </a:solidFill>
          <a:ln/>
        </p:spPr>
      </p:sp>
      <p:sp>
        <p:nvSpPr>
          <p:cNvPr id="7" name="Text 5"/>
          <p:cNvSpPr/>
          <p:nvPr/>
        </p:nvSpPr>
        <p:spPr>
          <a:xfrm>
            <a:off x="914400" y="214884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Donor</a:t>
            </a:r>
            <a:endParaRPr lang="en-US" sz="1300" dirty="0"/>
          </a:p>
        </p:txBody>
      </p:sp>
      <p:sp>
        <p:nvSpPr>
          <p:cNvPr id="8" name="Shape 6"/>
          <p:cNvSpPr/>
          <p:nvPr/>
        </p:nvSpPr>
        <p:spPr>
          <a:xfrm>
            <a:off x="3410712" y="2148840"/>
            <a:ext cx="2697480" cy="777240"/>
          </a:xfrm>
          <a:prstGeom prst="roundRect">
            <a:avLst>
              <a:gd name="adj" fmla="val 9412"/>
            </a:avLst>
          </a:prstGeom>
          <a:solidFill>
            <a:srgbClr val="F4FAF9"/>
          </a:solidFill>
          <a:ln w="12700">
            <a:solidFill>
              <a:srgbClr val="D6EBE9"/>
            </a:solidFill>
            <a:prstDash val="solid"/>
          </a:ln>
        </p:spPr>
      </p:sp>
      <p:sp>
        <p:nvSpPr>
          <p:cNvPr id="9" name="Shape 7"/>
          <p:cNvSpPr/>
          <p:nvPr/>
        </p:nvSpPr>
        <p:spPr>
          <a:xfrm>
            <a:off x="3547872" y="2286000"/>
            <a:ext cx="128016" cy="502920"/>
          </a:xfrm>
          <a:prstGeom prst="roundRect">
            <a:avLst>
              <a:gd name="adj" fmla="val 14286"/>
            </a:avLst>
          </a:prstGeom>
          <a:solidFill>
            <a:srgbClr val="00A896"/>
          </a:solidFill>
          <a:ln/>
        </p:spPr>
      </p:sp>
      <p:sp>
        <p:nvSpPr>
          <p:cNvPr id="10" name="Text 8"/>
          <p:cNvSpPr/>
          <p:nvPr/>
        </p:nvSpPr>
        <p:spPr>
          <a:xfrm>
            <a:off x="3776472" y="214884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Consent</a:t>
            </a:r>
            <a:endParaRPr lang="en-US" sz="1300" dirty="0"/>
          </a:p>
        </p:txBody>
      </p:sp>
      <p:sp>
        <p:nvSpPr>
          <p:cNvPr id="11" name="Shape 9"/>
          <p:cNvSpPr/>
          <p:nvPr/>
        </p:nvSpPr>
        <p:spPr>
          <a:xfrm>
            <a:off x="6272784" y="2148840"/>
            <a:ext cx="2697480" cy="777240"/>
          </a:xfrm>
          <a:prstGeom prst="roundRect">
            <a:avLst>
              <a:gd name="adj" fmla="val 9412"/>
            </a:avLst>
          </a:prstGeom>
          <a:solidFill>
            <a:srgbClr val="F4FAF9"/>
          </a:solidFill>
          <a:ln w="12700">
            <a:solidFill>
              <a:srgbClr val="D6EBE9"/>
            </a:solidFill>
            <a:prstDash val="solid"/>
          </a:ln>
        </p:spPr>
      </p:sp>
      <p:sp>
        <p:nvSpPr>
          <p:cNvPr id="12" name="Shape 10"/>
          <p:cNvSpPr/>
          <p:nvPr/>
        </p:nvSpPr>
        <p:spPr>
          <a:xfrm>
            <a:off x="6409944" y="2286000"/>
            <a:ext cx="128016" cy="502920"/>
          </a:xfrm>
          <a:prstGeom prst="roundRect">
            <a:avLst>
              <a:gd name="adj" fmla="val 14286"/>
            </a:avLst>
          </a:prstGeom>
          <a:solidFill>
            <a:srgbClr val="02C39A"/>
          </a:solidFill>
          <a:ln/>
        </p:spPr>
      </p:sp>
      <p:sp>
        <p:nvSpPr>
          <p:cNvPr id="13" name="Text 11"/>
          <p:cNvSpPr/>
          <p:nvPr/>
        </p:nvSpPr>
        <p:spPr>
          <a:xfrm>
            <a:off x="6638544" y="214884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Collection Event</a:t>
            </a:r>
            <a:endParaRPr lang="en-US" sz="1300" dirty="0"/>
          </a:p>
        </p:txBody>
      </p:sp>
      <p:sp>
        <p:nvSpPr>
          <p:cNvPr id="14" name="Shape 12"/>
          <p:cNvSpPr/>
          <p:nvPr/>
        </p:nvSpPr>
        <p:spPr>
          <a:xfrm>
            <a:off x="9134856" y="2148840"/>
            <a:ext cx="2697480" cy="777240"/>
          </a:xfrm>
          <a:prstGeom prst="roundRect">
            <a:avLst>
              <a:gd name="adj" fmla="val 9412"/>
            </a:avLst>
          </a:prstGeom>
          <a:solidFill>
            <a:srgbClr val="F4FAF9"/>
          </a:solidFill>
          <a:ln w="12700">
            <a:solidFill>
              <a:srgbClr val="D6EBE9"/>
            </a:solidFill>
            <a:prstDash val="solid"/>
          </a:ln>
        </p:spPr>
      </p:sp>
      <p:sp>
        <p:nvSpPr>
          <p:cNvPr id="15" name="Shape 13"/>
          <p:cNvSpPr/>
          <p:nvPr/>
        </p:nvSpPr>
        <p:spPr>
          <a:xfrm>
            <a:off x="9272016" y="2286000"/>
            <a:ext cx="128016" cy="502920"/>
          </a:xfrm>
          <a:prstGeom prst="roundRect">
            <a:avLst>
              <a:gd name="adj" fmla="val 14286"/>
            </a:avLst>
          </a:prstGeom>
          <a:solidFill>
            <a:srgbClr val="028090"/>
          </a:solidFill>
          <a:ln/>
        </p:spPr>
      </p:sp>
      <p:sp>
        <p:nvSpPr>
          <p:cNvPr id="16" name="Text 14"/>
          <p:cNvSpPr/>
          <p:nvPr/>
        </p:nvSpPr>
        <p:spPr>
          <a:xfrm>
            <a:off x="9500616" y="214884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Sample Type</a:t>
            </a:r>
            <a:endParaRPr lang="en-US" sz="1300" dirty="0"/>
          </a:p>
        </p:txBody>
      </p:sp>
      <p:sp>
        <p:nvSpPr>
          <p:cNvPr id="17" name="Shape 15"/>
          <p:cNvSpPr/>
          <p:nvPr/>
        </p:nvSpPr>
        <p:spPr>
          <a:xfrm>
            <a:off x="548640" y="3108960"/>
            <a:ext cx="2697480" cy="777240"/>
          </a:xfrm>
          <a:prstGeom prst="roundRect">
            <a:avLst>
              <a:gd name="adj" fmla="val 9412"/>
            </a:avLst>
          </a:prstGeom>
          <a:solidFill>
            <a:srgbClr val="F4FAF9"/>
          </a:solidFill>
          <a:ln w="12700">
            <a:solidFill>
              <a:srgbClr val="D6EBE9"/>
            </a:solidFill>
            <a:prstDash val="solid"/>
          </a:ln>
        </p:spPr>
      </p:sp>
      <p:sp>
        <p:nvSpPr>
          <p:cNvPr id="18" name="Shape 16"/>
          <p:cNvSpPr/>
          <p:nvPr/>
        </p:nvSpPr>
        <p:spPr>
          <a:xfrm>
            <a:off x="685800" y="3246120"/>
            <a:ext cx="128016" cy="502920"/>
          </a:xfrm>
          <a:prstGeom prst="roundRect">
            <a:avLst>
              <a:gd name="adj" fmla="val 14286"/>
            </a:avLst>
          </a:prstGeom>
          <a:solidFill>
            <a:srgbClr val="00A896"/>
          </a:solidFill>
          <a:ln/>
        </p:spPr>
      </p:sp>
      <p:sp>
        <p:nvSpPr>
          <p:cNvPr id="19" name="Text 17"/>
          <p:cNvSpPr/>
          <p:nvPr/>
        </p:nvSpPr>
        <p:spPr>
          <a:xfrm>
            <a:off x="914400" y="310896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Sample</a:t>
            </a:r>
            <a:endParaRPr lang="en-US" sz="1300" dirty="0"/>
          </a:p>
        </p:txBody>
      </p:sp>
      <p:sp>
        <p:nvSpPr>
          <p:cNvPr id="20" name="Shape 18"/>
          <p:cNvSpPr/>
          <p:nvPr/>
        </p:nvSpPr>
        <p:spPr>
          <a:xfrm>
            <a:off x="3410712" y="3108960"/>
            <a:ext cx="2697480" cy="777240"/>
          </a:xfrm>
          <a:prstGeom prst="roundRect">
            <a:avLst>
              <a:gd name="adj" fmla="val 9412"/>
            </a:avLst>
          </a:prstGeom>
          <a:solidFill>
            <a:srgbClr val="F4FAF9"/>
          </a:solidFill>
          <a:ln w="12700">
            <a:solidFill>
              <a:srgbClr val="D6EBE9"/>
            </a:solidFill>
            <a:prstDash val="solid"/>
          </a:ln>
        </p:spPr>
      </p:sp>
      <p:sp>
        <p:nvSpPr>
          <p:cNvPr id="21" name="Shape 19"/>
          <p:cNvSpPr/>
          <p:nvPr/>
        </p:nvSpPr>
        <p:spPr>
          <a:xfrm>
            <a:off x="3547872" y="3246120"/>
            <a:ext cx="128016" cy="502920"/>
          </a:xfrm>
          <a:prstGeom prst="roundRect">
            <a:avLst>
              <a:gd name="adj" fmla="val 14286"/>
            </a:avLst>
          </a:prstGeom>
          <a:solidFill>
            <a:srgbClr val="02C39A"/>
          </a:solidFill>
          <a:ln/>
        </p:spPr>
      </p:sp>
      <p:sp>
        <p:nvSpPr>
          <p:cNvPr id="22" name="Text 20"/>
          <p:cNvSpPr/>
          <p:nvPr/>
        </p:nvSpPr>
        <p:spPr>
          <a:xfrm>
            <a:off x="3776472" y="310896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Storage Location</a:t>
            </a:r>
            <a:endParaRPr lang="en-US" sz="1300" dirty="0"/>
          </a:p>
        </p:txBody>
      </p:sp>
      <p:sp>
        <p:nvSpPr>
          <p:cNvPr id="23" name="Shape 21"/>
          <p:cNvSpPr/>
          <p:nvPr/>
        </p:nvSpPr>
        <p:spPr>
          <a:xfrm>
            <a:off x="6272784" y="3108960"/>
            <a:ext cx="2697480" cy="777240"/>
          </a:xfrm>
          <a:prstGeom prst="roundRect">
            <a:avLst>
              <a:gd name="adj" fmla="val 9412"/>
            </a:avLst>
          </a:prstGeom>
          <a:solidFill>
            <a:srgbClr val="F4FAF9"/>
          </a:solidFill>
          <a:ln w="12700">
            <a:solidFill>
              <a:srgbClr val="D6EBE9"/>
            </a:solidFill>
            <a:prstDash val="solid"/>
          </a:ln>
        </p:spPr>
      </p:sp>
      <p:sp>
        <p:nvSpPr>
          <p:cNvPr id="24" name="Shape 22"/>
          <p:cNvSpPr/>
          <p:nvPr/>
        </p:nvSpPr>
        <p:spPr>
          <a:xfrm>
            <a:off x="6409944" y="3246120"/>
            <a:ext cx="128016" cy="502920"/>
          </a:xfrm>
          <a:prstGeom prst="roundRect">
            <a:avLst>
              <a:gd name="adj" fmla="val 14286"/>
            </a:avLst>
          </a:prstGeom>
          <a:solidFill>
            <a:srgbClr val="028090"/>
          </a:solidFill>
          <a:ln/>
        </p:spPr>
      </p:sp>
      <p:sp>
        <p:nvSpPr>
          <p:cNvPr id="25" name="Text 23"/>
          <p:cNvSpPr/>
          <p:nvPr/>
        </p:nvSpPr>
        <p:spPr>
          <a:xfrm>
            <a:off x="6638544" y="310896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Aliquot</a:t>
            </a:r>
            <a:endParaRPr lang="en-US" sz="1300" dirty="0"/>
          </a:p>
        </p:txBody>
      </p:sp>
      <p:sp>
        <p:nvSpPr>
          <p:cNvPr id="26" name="Shape 24"/>
          <p:cNvSpPr/>
          <p:nvPr/>
        </p:nvSpPr>
        <p:spPr>
          <a:xfrm>
            <a:off x="9134856" y="3108960"/>
            <a:ext cx="2697480" cy="777240"/>
          </a:xfrm>
          <a:prstGeom prst="roundRect">
            <a:avLst>
              <a:gd name="adj" fmla="val 9412"/>
            </a:avLst>
          </a:prstGeom>
          <a:solidFill>
            <a:srgbClr val="F4FAF9"/>
          </a:solidFill>
          <a:ln w="12700">
            <a:solidFill>
              <a:srgbClr val="D6EBE9"/>
            </a:solidFill>
            <a:prstDash val="solid"/>
          </a:ln>
        </p:spPr>
      </p:sp>
      <p:sp>
        <p:nvSpPr>
          <p:cNvPr id="27" name="Shape 25"/>
          <p:cNvSpPr/>
          <p:nvPr/>
        </p:nvSpPr>
        <p:spPr>
          <a:xfrm>
            <a:off x="9272016" y="3246120"/>
            <a:ext cx="128016" cy="502920"/>
          </a:xfrm>
          <a:prstGeom prst="roundRect">
            <a:avLst>
              <a:gd name="adj" fmla="val 14286"/>
            </a:avLst>
          </a:prstGeom>
          <a:solidFill>
            <a:srgbClr val="00A896"/>
          </a:solidFill>
          <a:ln/>
        </p:spPr>
      </p:sp>
      <p:sp>
        <p:nvSpPr>
          <p:cNvPr id="28" name="Text 26"/>
          <p:cNvSpPr/>
          <p:nvPr/>
        </p:nvSpPr>
        <p:spPr>
          <a:xfrm>
            <a:off x="9500616" y="310896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Researcher</a:t>
            </a:r>
            <a:endParaRPr lang="en-US" sz="1300" dirty="0"/>
          </a:p>
        </p:txBody>
      </p:sp>
      <p:sp>
        <p:nvSpPr>
          <p:cNvPr id="29" name="Shape 27"/>
          <p:cNvSpPr/>
          <p:nvPr/>
        </p:nvSpPr>
        <p:spPr>
          <a:xfrm>
            <a:off x="548640" y="4069080"/>
            <a:ext cx="2697480" cy="777240"/>
          </a:xfrm>
          <a:prstGeom prst="roundRect">
            <a:avLst>
              <a:gd name="adj" fmla="val 9412"/>
            </a:avLst>
          </a:prstGeom>
          <a:solidFill>
            <a:srgbClr val="F4FAF9"/>
          </a:solidFill>
          <a:ln w="12700">
            <a:solidFill>
              <a:srgbClr val="D6EBE9"/>
            </a:solidFill>
            <a:prstDash val="solid"/>
          </a:ln>
        </p:spPr>
      </p:sp>
      <p:sp>
        <p:nvSpPr>
          <p:cNvPr id="30" name="Shape 28"/>
          <p:cNvSpPr/>
          <p:nvPr/>
        </p:nvSpPr>
        <p:spPr>
          <a:xfrm>
            <a:off x="685800" y="4206240"/>
            <a:ext cx="128016" cy="502920"/>
          </a:xfrm>
          <a:prstGeom prst="roundRect">
            <a:avLst>
              <a:gd name="adj" fmla="val 14286"/>
            </a:avLst>
          </a:prstGeom>
          <a:solidFill>
            <a:srgbClr val="02C39A"/>
          </a:solidFill>
          <a:ln/>
        </p:spPr>
      </p:sp>
      <p:sp>
        <p:nvSpPr>
          <p:cNvPr id="31" name="Text 29"/>
          <p:cNvSpPr/>
          <p:nvPr/>
        </p:nvSpPr>
        <p:spPr>
          <a:xfrm>
            <a:off x="914400" y="406908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Sample Request</a:t>
            </a:r>
            <a:endParaRPr lang="en-US" sz="1300" dirty="0"/>
          </a:p>
        </p:txBody>
      </p:sp>
      <p:sp>
        <p:nvSpPr>
          <p:cNvPr id="32" name="Shape 30"/>
          <p:cNvSpPr/>
          <p:nvPr/>
        </p:nvSpPr>
        <p:spPr>
          <a:xfrm>
            <a:off x="3410712" y="4069080"/>
            <a:ext cx="2697480" cy="777240"/>
          </a:xfrm>
          <a:prstGeom prst="roundRect">
            <a:avLst>
              <a:gd name="adj" fmla="val 9412"/>
            </a:avLst>
          </a:prstGeom>
          <a:solidFill>
            <a:srgbClr val="F4FAF9"/>
          </a:solidFill>
          <a:ln w="12700">
            <a:solidFill>
              <a:srgbClr val="D6EBE9"/>
            </a:solidFill>
            <a:prstDash val="solid"/>
          </a:ln>
        </p:spPr>
      </p:sp>
      <p:sp>
        <p:nvSpPr>
          <p:cNvPr id="33" name="Shape 31"/>
          <p:cNvSpPr/>
          <p:nvPr/>
        </p:nvSpPr>
        <p:spPr>
          <a:xfrm>
            <a:off x="3547872" y="4206240"/>
            <a:ext cx="128016" cy="502920"/>
          </a:xfrm>
          <a:prstGeom prst="roundRect">
            <a:avLst>
              <a:gd name="adj" fmla="val 14286"/>
            </a:avLst>
          </a:prstGeom>
          <a:solidFill>
            <a:srgbClr val="028090"/>
          </a:solidFill>
          <a:ln/>
        </p:spPr>
      </p:sp>
      <p:sp>
        <p:nvSpPr>
          <p:cNvPr id="34" name="Text 32"/>
          <p:cNvSpPr/>
          <p:nvPr/>
        </p:nvSpPr>
        <p:spPr>
          <a:xfrm>
            <a:off x="3776472" y="406908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Sample Usage</a:t>
            </a:r>
            <a:endParaRPr lang="en-US" sz="1300" dirty="0"/>
          </a:p>
        </p:txBody>
      </p:sp>
      <p:sp>
        <p:nvSpPr>
          <p:cNvPr id="35" name="Shape 33"/>
          <p:cNvSpPr/>
          <p:nvPr/>
        </p:nvSpPr>
        <p:spPr>
          <a:xfrm>
            <a:off x="6272784" y="4069080"/>
            <a:ext cx="2697480" cy="777240"/>
          </a:xfrm>
          <a:prstGeom prst="roundRect">
            <a:avLst>
              <a:gd name="adj" fmla="val 9412"/>
            </a:avLst>
          </a:prstGeom>
          <a:solidFill>
            <a:srgbClr val="F4FAF9"/>
          </a:solidFill>
          <a:ln w="12700">
            <a:solidFill>
              <a:srgbClr val="D6EBE9"/>
            </a:solidFill>
            <a:prstDash val="solid"/>
          </a:ln>
        </p:spPr>
      </p:sp>
      <p:sp>
        <p:nvSpPr>
          <p:cNvPr id="36" name="Shape 34"/>
          <p:cNvSpPr/>
          <p:nvPr/>
        </p:nvSpPr>
        <p:spPr>
          <a:xfrm>
            <a:off x="6409944" y="4206240"/>
            <a:ext cx="128016" cy="502920"/>
          </a:xfrm>
          <a:prstGeom prst="roundRect">
            <a:avLst>
              <a:gd name="adj" fmla="val 14286"/>
            </a:avLst>
          </a:prstGeom>
          <a:solidFill>
            <a:srgbClr val="00A896"/>
          </a:solidFill>
          <a:ln/>
        </p:spPr>
      </p:sp>
      <p:sp>
        <p:nvSpPr>
          <p:cNvPr id="37" name="Text 35"/>
          <p:cNvSpPr/>
          <p:nvPr/>
        </p:nvSpPr>
        <p:spPr>
          <a:xfrm>
            <a:off x="6638544" y="4069080"/>
            <a:ext cx="2240280" cy="777240"/>
          </a:xfrm>
          <a:prstGeom prst="rect">
            <a:avLst/>
          </a:prstGeom>
          <a:noFill/>
          <a:ln/>
        </p:spPr>
        <p:txBody>
          <a:bodyPr wrap="square" rtlCol="0" anchor="ctr"/>
          <a:lstStyle/>
          <a:p>
            <a:pPr indent="0" marL="0">
              <a:buNone/>
            </a:pPr>
            <a:r>
              <a:rPr lang="en-US" sz="1300" b="1" dirty="0">
                <a:solidFill>
                  <a:srgbClr val="0C2B2E"/>
                </a:solidFill>
                <a:latin typeface="Calibri" pitchFamily="34" charset="0"/>
                <a:ea typeface="Calibri" pitchFamily="34" charset="-122"/>
                <a:cs typeface="Calibri" pitchFamily="34" charset="-120"/>
              </a:rPr>
              <a:t>Test Request</a:t>
            </a:r>
            <a:endParaRPr lang="en-US" sz="1300" dirty="0"/>
          </a:p>
        </p:txBody>
      </p:sp>
      <p:sp>
        <p:nvSpPr>
          <p:cNvPr id="38" name="Text 36"/>
          <p:cNvSpPr/>
          <p:nvPr/>
        </p:nvSpPr>
        <p:spPr>
          <a:xfrm>
            <a:off x="548640" y="5989320"/>
            <a:ext cx="11064240" cy="502920"/>
          </a:xfrm>
          <a:prstGeom prst="rect">
            <a:avLst/>
          </a:prstGeom>
          <a:noFill/>
          <a:ln/>
        </p:spPr>
        <p:txBody>
          <a:bodyPr wrap="square" rtlCol="0" anchor="t"/>
          <a:lstStyle/>
          <a:p>
            <a:pPr indent="0" marL="0">
              <a:buNone/>
            </a:pPr>
            <a:r>
              <a:rPr lang="en-US" sz="1150" b="1" dirty="0">
                <a:solidFill>
                  <a:srgbClr val="028090"/>
                </a:solidFill>
                <a:latin typeface="Calibri" pitchFamily="34" charset="0"/>
                <a:ea typeface="Calibri" pitchFamily="34" charset="-122"/>
                <a:cs typeface="Calibri" pitchFamily="34" charset="-120"/>
              </a:rPr>
              <a:t>Relationship highlights: </a:t>
            </a:r>
            <a:pPr indent="0" marL="0">
              <a:buNone/>
            </a:pPr>
            <a:r>
              <a:rPr lang="en-US" sz="1150" dirty="0">
                <a:solidFill>
                  <a:srgbClr val="0C2B2E"/>
                </a:solidFill>
                <a:latin typeface="Calibri" pitchFamily="34" charset="0"/>
                <a:ea typeface="Calibri" pitchFamily="34" charset="-122"/>
                <a:cs typeface="Calibri" pitchFamily="34" charset="-120"/>
              </a:rPr>
              <a:t>Donor →(1:N) Consent &amp; Collection_Event · Collection_Event →(1:N) Sample · Sample →(1:N) Aliquot · Researcher ↔ Sample (M:N) via Sample_Request · Sample_Request →(1:N) Sample_Usage</a:t>
            </a:r>
            <a:endParaRPr lang="en-US" sz="1150" dirty="0"/>
          </a:p>
        </p:txBody>
      </p:sp>
      <p:sp>
        <p:nvSpPr>
          <p:cNvPr id="39" name="Text 37"/>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5B7C7E"/>
                </a:solidFill>
                <a:latin typeface="Calibri" pitchFamily="34" charset="0"/>
                <a:ea typeface="Calibri" pitchFamily="34" charset="-122"/>
                <a:cs typeface="Calibri" pitchFamily="34" charset="-120"/>
              </a:rPr>
              <a:t>Biobank &amp; Biospecimen Management System</a:t>
            </a:r>
            <a:endParaRPr lang="en-US" sz="900" dirty="0"/>
          </a:p>
        </p:txBody>
      </p:sp>
      <p:sp>
        <p:nvSpPr>
          <p:cNvPr id="40" name="Text 3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7C7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3436"/>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CONCEPTUAL DESIGN</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Entity Relationship Diagram</a:t>
            </a:r>
            <a:endParaRPr lang="en-US" sz="3200" dirty="0"/>
          </a:p>
        </p:txBody>
      </p:sp>
      <p:sp>
        <p:nvSpPr>
          <p:cNvPr id="4" name="Shape 2"/>
          <p:cNvSpPr/>
          <p:nvPr/>
        </p:nvSpPr>
        <p:spPr>
          <a:xfrm>
            <a:off x="4343400" y="1371600"/>
            <a:ext cx="4206240" cy="4709160"/>
          </a:xfrm>
          <a:prstGeom prst="roundRect">
            <a:avLst>
              <a:gd name="adj" fmla="val 1304"/>
            </a:avLst>
          </a:prstGeom>
          <a:solidFill>
            <a:srgbClr val="FFFFFF"/>
          </a:solidFill>
          <a:ln/>
        </p:spPr>
      </p:sp>
      <p:pic>
        <p:nvPicPr>
          <p:cNvPr id="5" name="Image 0" descr="/home/claude/assets/erd.png">    </p:cNvPr>
          <p:cNvPicPr>
            <a:picLocks noChangeAspect="1"/>
          </p:cNvPicPr>
          <p:nvPr/>
        </p:nvPicPr>
        <p:blipFill>
          <a:blip r:embed="rId1"/>
          <a:stretch>
            <a:fillRect/>
          </a:stretch>
        </p:blipFill>
        <p:spPr>
          <a:xfrm>
            <a:off x="4453128" y="1481328"/>
            <a:ext cx="3986784" cy="4489704"/>
          </a:xfrm>
          <a:prstGeom prst="rect">
            <a:avLst/>
          </a:prstGeom>
        </p:spPr>
      </p:pic>
      <p:sp>
        <p:nvSpPr>
          <p:cNvPr id="6" name="Text 3"/>
          <p:cNvSpPr/>
          <p:nvPr/>
        </p:nvSpPr>
        <p:spPr>
          <a:xfrm>
            <a:off x="548640" y="6144768"/>
            <a:ext cx="11064240" cy="292608"/>
          </a:xfrm>
          <a:prstGeom prst="rect">
            <a:avLst/>
          </a:prstGeom>
          <a:noFill/>
          <a:ln/>
        </p:spPr>
        <p:txBody>
          <a:bodyPr wrap="square" rtlCol="0" anchor="ctr"/>
          <a:lstStyle/>
          <a:p>
            <a:pPr algn="ctr" indent="0" marL="0">
              <a:buNone/>
            </a:pPr>
            <a:r>
              <a:rPr lang="en-US" sz="1100" i="1" dirty="0">
                <a:solidFill>
                  <a:srgbClr val="9FD4D0"/>
                </a:solidFill>
                <a:latin typeface="Calibri" pitchFamily="34" charset="0"/>
                <a:ea typeface="Calibri" pitchFamily="34" charset="-122"/>
                <a:cs typeface="Calibri" pitchFamily="34" charset="-120"/>
              </a:rPr>
              <a:t>Built in MySQL Workbench — 11 entities with primary keys, foreign keys, cardinality, and participation constraints.</a:t>
            </a:r>
            <a:endParaRPr lang="en-US" sz="1100" dirty="0"/>
          </a:p>
        </p:txBody>
      </p:sp>
      <p:sp>
        <p:nvSpPr>
          <p:cNvPr id="7" name="Text 4"/>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6FA8AA"/>
                </a:solidFill>
                <a:latin typeface="Calibri" pitchFamily="34" charset="0"/>
                <a:ea typeface="Calibri" pitchFamily="34" charset="-122"/>
                <a:cs typeface="Calibri" pitchFamily="34" charset="-120"/>
              </a:rPr>
              <a:t>Biobank &amp; Biospecimen Management System</a:t>
            </a:r>
            <a:endParaRPr lang="en-US" sz="900" dirty="0"/>
          </a:p>
        </p:txBody>
      </p:sp>
      <p:sp>
        <p:nvSpPr>
          <p:cNvPr id="8" name="Text 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FA8A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NORMALIZATION</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0C2B2E"/>
                </a:solidFill>
                <a:latin typeface="Cambria" pitchFamily="34" charset="0"/>
                <a:ea typeface="Cambria" pitchFamily="34" charset="-122"/>
                <a:cs typeface="Cambria" pitchFamily="34" charset="-120"/>
              </a:rPr>
              <a:t>Relational Schema &amp; 3NF</a:t>
            </a:r>
            <a:endParaRPr lang="en-US" sz="3200" dirty="0"/>
          </a:p>
        </p:txBody>
      </p:sp>
      <p:sp>
        <p:nvSpPr>
          <p:cNvPr id="4" name="Shape 2"/>
          <p:cNvSpPr/>
          <p:nvPr/>
        </p:nvSpPr>
        <p:spPr>
          <a:xfrm>
            <a:off x="548640" y="1691640"/>
            <a:ext cx="3584448" cy="2331720"/>
          </a:xfrm>
          <a:prstGeom prst="roundRect">
            <a:avLst>
              <a:gd name="adj" fmla="val 3922"/>
            </a:avLst>
          </a:prstGeom>
          <a:solidFill>
            <a:srgbClr val="F4FAF9"/>
          </a:solidFill>
          <a:ln/>
        </p:spPr>
      </p:sp>
      <p:sp>
        <p:nvSpPr>
          <p:cNvPr id="5" name="Text 3"/>
          <p:cNvSpPr/>
          <p:nvPr/>
        </p:nvSpPr>
        <p:spPr>
          <a:xfrm>
            <a:off x="777240" y="1874520"/>
            <a:ext cx="1828800" cy="502920"/>
          </a:xfrm>
          <a:prstGeom prst="rect">
            <a:avLst/>
          </a:prstGeom>
          <a:noFill/>
          <a:ln/>
        </p:spPr>
        <p:txBody>
          <a:bodyPr wrap="square" rtlCol="0" anchor="ctr"/>
          <a:lstStyle/>
          <a:p>
            <a:pPr indent="0" marL="0">
              <a:buNone/>
            </a:pPr>
            <a:r>
              <a:rPr lang="en-US" sz="2400" b="1" dirty="0">
                <a:solidFill>
                  <a:srgbClr val="028090"/>
                </a:solidFill>
                <a:latin typeface="Cambria" pitchFamily="34" charset="0"/>
                <a:ea typeface="Cambria" pitchFamily="34" charset="-122"/>
                <a:cs typeface="Cambria" pitchFamily="34" charset="-120"/>
              </a:rPr>
              <a:t>1NF</a:t>
            </a:r>
            <a:endParaRPr lang="en-US" sz="2400" dirty="0"/>
          </a:p>
        </p:txBody>
      </p:sp>
      <p:sp>
        <p:nvSpPr>
          <p:cNvPr id="6" name="Text 4"/>
          <p:cNvSpPr/>
          <p:nvPr/>
        </p:nvSpPr>
        <p:spPr>
          <a:xfrm>
            <a:off x="777240" y="2423160"/>
            <a:ext cx="3154680" cy="1463040"/>
          </a:xfrm>
          <a:prstGeom prst="rect">
            <a:avLst/>
          </a:prstGeom>
          <a:noFill/>
          <a:ln/>
        </p:spPr>
        <p:txBody>
          <a:bodyPr wrap="square" rtlCol="0" anchor="t"/>
          <a:lstStyle/>
          <a:p>
            <a:pPr indent="0" marL="0">
              <a:lnSpc>
                <a:spcPct val="120000"/>
              </a:lnSpc>
              <a:buNone/>
            </a:pPr>
            <a:r>
              <a:rPr lang="en-US" sz="1200" dirty="0">
                <a:solidFill>
                  <a:srgbClr val="0C2B2E"/>
                </a:solidFill>
                <a:latin typeface="Calibri" pitchFamily="34" charset="0"/>
                <a:ea typeface="Calibri" pitchFamily="34" charset="-122"/>
                <a:cs typeface="Calibri" pitchFamily="34" charset="-120"/>
              </a:rPr>
              <a:t>Every column holds a single atomic value; no repeating groups. Each table has a defined primary key.</a:t>
            </a:r>
            <a:endParaRPr lang="en-US" sz="1200" dirty="0"/>
          </a:p>
        </p:txBody>
      </p:sp>
      <p:sp>
        <p:nvSpPr>
          <p:cNvPr id="7" name="Shape 5"/>
          <p:cNvSpPr/>
          <p:nvPr/>
        </p:nvSpPr>
        <p:spPr>
          <a:xfrm>
            <a:off x="4315968" y="1691640"/>
            <a:ext cx="3584448" cy="2331720"/>
          </a:xfrm>
          <a:prstGeom prst="roundRect">
            <a:avLst>
              <a:gd name="adj" fmla="val 3922"/>
            </a:avLst>
          </a:prstGeom>
          <a:solidFill>
            <a:srgbClr val="F4FAF9"/>
          </a:solidFill>
          <a:ln/>
        </p:spPr>
      </p:sp>
      <p:sp>
        <p:nvSpPr>
          <p:cNvPr id="8" name="Text 6"/>
          <p:cNvSpPr/>
          <p:nvPr/>
        </p:nvSpPr>
        <p:spPr>
          <a:xfrm>
            <a:off x="4544568" y="1874520"/>
            <a:ext cx="1828800" cy="502920"/>
          </a:xfrm>
          <a:prstGeom prst="rect">
            <a:avLst/>
          </a:prstGeom>
          <a:noFill/>
          <a:ln/>
        </p:spPr>
        <p:txBody>
          <a:bodyPr wrap="square" rtlCol="0" anchor="ctr"/>
          <a:lstStyle/>
          <a:p>
            <a:pPr indent="0" marL="0">
              <a:buNone/>
            </a:pPr>
            <a:r>
              <a:rPr lang="en-US" sz="2400" b="1" dirty="0">
                <a:solidFill>
                  <a:srgbClr val="028090"/>
                </a:solidFill>
                <a:latin typeface="Cambria" pitchFamily="34" charset="0"/>
                <a:ea typeface="Cambria" pitchFamily="34" charset="-122"/>
                <a:cs typeface="Cambria" pitchFamily="34" charset="-120"/>
              </a:rPr>
              <a:t>2NF</a:t>
            </a:r>
            <a:endParaRPr lang="en-US" sz="2400" dirty="0"/>
          </a:p>
        </p:txBody>
      </p:sp>
      <p:sp>
        <p:nvSpPr>
          <p:cNvPr id="9" name="Text 7"/>
          <p:cNvSpPr/>
          <p:nvPr/>
        </p:nvSpPr>
        <p:spPr>
          <a:xfrm>
            <a:off x="4544568" y="2423160"/>
            <a:ext cx="3154680" cy="1463040"/>
          </a:xfrm>
          <a:prstGeom prst="rect">
            <a:avLst/>
          </a:prstGeom>
          <a:noFill/>
          <a:ln/>
        </p:spPr>
        <p:txBody>
          <a:bodyPr wrap="square" rtlCol="0" anchor="t"/>
          <a:lstStyle/>
          <a:p>
            <a:pPr indent="0" marL="0">
              <a:lnSpc>
                <a:spcPct val="120000"/>
              </a:lnSpc>
              <a:buNone/>
            </a:pPr>
            <a:r>
              <a:rPr lang="en-US" sz="1200" dirty="0">
                <a:solidFill>
                  <a:srgbClr val="0C2B2E"/>
                </a:solidFill>
                <a:latin typeface="Calibri" pitchFamily="34" charset="0"/>
                <a:ea typeface="Calibri" pitchFamily="34" charset="-122"/>
                <a:cs typeface="Calibri" pitchFamily="34" charset="-120"/>
              </a:rPr>
              <a:t>Tables use single-column primary keys (donor_id, sample_id...), so no partial dependency exists on part of a key.</a:t>
            </a:r>
            <a:endParaRPr lang="en-US" sz="1200" dirty="0"/>
          </a:p>
        </p:txBody>
      </p:sp>
      <p:sp>
        <p:nvSpPr>
          <p:cNvPr id="10" name="Shape 8"/>
          <p:cNvSpPr/>
          <p:nvPr/>
        </p:nvSpPr>
        <p:spPr>
          <a:xfrm>
            <a:off x="8083296" y="1691640"/>
            <a:ext cx="3584448" cy="2331720"/>
          </a:xfrm>
          <a:prstGeom prst="roundRect">
            <a:avLst>
              <a:gd name="adj" fmla="val 3922"/>
            </a:avLst>
          </a:prstGeom>
          <a:solidFill>
            <a:srgbClr val="028090"/>
          </a:solidFill>
          <a:ln/>
        </p:spPr>
      </p:sp>
      <p:sp>
        <p:nvSpPr>
          <p:cNvPr id="11" name="Text 9"/>
          <p:cNvSpPr/>
          <p:nvPr/>
        </p:nvSpPr>
        <p:spPr>
          <a:xfrm>
            <a:off x="8311896" y="1874520"/>
            <a:ext cx="18288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3NF</a:t>
            </a:r>
            <a:endParaRPr lang="en-US" sz="2400" dirty="0"/>
          </a:p>
        </p:txBody>
      </p:sp>
      <p:sp>
        <p:nvSpPr>
          <p:cNvPr id="12" name="Text 10"/>
          <p:cNvSpPr/>
          <p:nvPr/>
        </p:nvSpPr>
        <p:spPr>
          <a:xfrm>
            <a:off x="8311896" y="2423160"/>
            <a:ext cx="3154680" cy="1463040"/>
          </a:xfrm>
          <a:prstGeom prst="rect">
            <a:avLst/>
          </a:prstGeom>
          <a:noFill/>
          <a:ln/>
        </p:spPr>
        <p:txBody>
          <a:bodyPr wrap="square" rtlCol="0" anchor="t"/>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Independent data is split into its own table — Sample_Type, Storage_Location, and Researcher are referenced by FK, not repeated.</a:t>
            </a:r>
            <a:endParaRPr lang="en-US" sz="1200" dirty="0"/>
          </a:p>
        </p:txBody>
      </p:sp>
      <p:sp>
        <p:nvSpPr>
          <p:cNvPr id="13" name="Text 11"/>
          <p:cNvSpPr/>
          <p:nvPr/>
        </p:nvSpPr>
        <p:spPr>
          <a:xfrm>
            <a:off x="548640" y="4251960"/>
            <a:ext cx="11064240" cy="365760"/>
          </a:xfrm>
          <a:prstGeom prst="rect">
            <a:avLst/>
          </a:prstGeom>
          <a:noFill/>
          <a:ln/>
        </p:spPr>
        <p:txBody>
          <a:bodyPr wrap="square" rtlCol="0" anchor="ctr"/>
          <a:lstStyle/>
          <a:p>
            <a:pPr indent="0" marL="0">
              <a:buNone/>
            </a:pPr>
            <a:r>
              <a:rPr lang="en-US" sz="1300" i="1" dirty="0">
                <a:solidFill>
                  <a:srgbClr val="5B7C7E"/>
                </a:solidFill>
                <a:latin typeface="Calibri" pitchFamily="34" charset="0"/>
                <a:ea typeface="Calibri" pitchFamily="34" charset="-122"/>
                <a:cs typeface="Calibri" pitchFamily="34" charset="-120"/>
              </a:rPr>
              <a:t>Result: reduced duplication, easier maintenance, and consistent referential integrity across all 11 tables.</a:t>
            </a:r>
            <a:endParaRPr lang="en-US" sz="1300" dirty="0"/>
          </a:p>
        </p:txBody>
      </p:sp>
      <p:sp>
        <p:nvSpPr>
          <p:cNvPr id="14" name="Shape 12"/>
          <p:cNvSpPr/>
          <p:nvPr/>
        </p:nvSpPr>
        <p:spPr>
          <a:xfrm>
            <a:off x="548640" y="4754880"/>
            <a:ext cx="11064240" cy="1371600"/>
          </a:xfrm>
          <a:prstGeom prst="roundRect">
            <a:avLst>
              <a:gd name="adj" fmla="val 6667"/>
            </a:avLst>
          </a:prstGeom>
          <a:solidFill>
            <a:srgbClr val="023436"/>
          </a:solidFill>
          <a:ln/>
        </p:spPr>
      </p:sp>
      <p:sp>
        <p:nvSpPr>
          <p:cNvPr id="15" name="Text 13"/>
          <p:cNvSpPr/>
          <p:nvPr/>
        </p:nvSpPr>
        <p:spPr>
          <a:xfrm>
            <a:off x="822960" y="4892040"/>
            <a:ext cx="5486400" cy="3200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Constraints enforced in the schema</a:t>
            </a:r>
            <a:endParaRPr lang="en-US" sz="1300" dirty="0"/>
          </a:p>
        </p:txBody>
      </p:sp>
      <p:sp>
        <p:nvSpPr>
          <p:cNvPr id="16" name="Text 14"/>
          <p:cNvSpPr/>
          <p:nvPr/>
        </p:nvSpPr>
        <p:spPr>
          <a:xfrm>
            <a:off x="822960" y="5230368"/>
            <a:ext cx="10515600" cy="777240"/>
          </a:xfrm>
          <a:prstGeom prst="rect">
            <a:avLst/>
          </a:prstGeom>
          <a:noFill/>
          <a:ln/>
        </p:spPr>
        <p:txBody>
          <a:bodyPr wrap="square"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PK / FK on every relationship  ·  UNIQUE on donor_code, sample_code, aliquot_code, researcher_code, email  ·  CHECK volume_ml &gt; 0  ·  UNIQUE (freezer, rack, box, position) on Storage_Location</a:t>
            </a:r>
            <a:endParaRPr lang="en-US" sz="1200" dirty="0"/>
          </a:p>
        </p:txBody>
      </p:sp>
      <p:sp>
        <p:nvSpPr>
          <p:cNvPr id="17" name="Text 15"/>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5B7C7E"/>
                </a:solidFill>
                <a:latin typeface="Calibri" pitchFamily="34" charset="0"/>
                <a:ea typeface="Calibri" pitchFamily="34" charset="-122"/>
                <a:cs typeface="Calibri" pitchFamily="34" charset="-120"/>
              </a:rPr>
              <a:t>Biobank &amp; Biospecimen Management System</a:t>
            </a:r>
            <a:endParaRPr lang="en-US" sz="900" dirty="0"/>
          </a:p>
        </p:txBody>
      </p:sp>
      <p:sp>
        <p:nvSpPr>
          <p:cNvPr id="18" name="Text 1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7C7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BUILD</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0C2B2E"/>
                </a:solidFill>
                <a:latin typeface="Cambria" pitchFamily="34" charset="0"/>
                <a:ea typeface="Cambria" pitchFamily="34" charset="-122"/>
                <a:cs typeface="Cambria" pitchFamily="34" charset="-120"/>
              </a:rPr>
              <a:t>Database Implementation</a:t>
            </a:r>
            <a:endParaRPr lang="en-US" sz="3200" dirty="0"/>
          </a:p>
        </p:txBody>
      </p:sp>
      <p:sp>
        <p:nvSpPr>
          <p:cNvPr id="4" name="Shape 2"/>
          <p:cNvSpPr/>
          <p:nvPr/>
        </p:nvSpPr>
        <p:spPr>
          <a:xfrm>
            <a:off x="548640" y="1691640"/>
            <a:ext cx="5303520" cy="868680"/>
          </a:xfrm>
          <a:prstGeom prst="roundRect">
            <a:avLst>
              <a:gd name="adj" fmla="val 8421"/>
            </a:avLst>
          </a:prstGeom>
          <a:solidFill>
            <a:srgbClr val="F4FAF9"/>
          </a:solidFill>
          <a:ln/>
        </p:spPr>
      </p:sp>
      <p:sp>
        <p:nvSpPr>
          <p:cNvPr id="5" name="Shape 3"/>
          <p:cNvSpPr/>
          <p:nvPr/>
        </p:nvSpPr>
        <p:spPr>
          <a:xfrm>
            <a:off x="777240" y="1847088"/>
            <a:ext cx="384048" cy="384048"/>
          </a:xfrm>
          <a:prstGeom prst="ellipse">
            <a:avLst/>
          </a:prstGeom>
          <a:solidFill>
            <a:srgbClr val="00A896"/>
          </a:solidFill>
          <a:ln/>
        </p:spPr>
      </p:sp>
      <p:sp>
        <p:nvSpPr>
          <p:cNvPr id="6" name="Text 4"/>
          <p:cNvSpPr/>
          <p:nvPr/>
        </p:nvSpPr>
        <p:spPr>
          <a:xfrm>
            <a:off x="777240" y="1847088"/>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T</a:t>
            </a:r>
            <a:endParaRPr lang="en-US" sz="1092" dirty="0"/>
          </a:p>
        </p:txBody>
      </p:sp>
      <p:sp>
        <p:nvSpPr>
          <p:cNvPr id="7" name="Text 5"/>
          <p:cNvSpPr/>
          <p:nvPr/>
        </p:nvSpPr>
        <p:spPr>
          <a:xfrm>
            <a:off x="1325880" y="1737360"/>
            <a:ext cx="4434840" cy="731520"/>
          </a:xfrm>
          <a:prstGeom prst="rect">
            <a:avLst/>
          </a:prstGeom>
          <a:noFill/>
          <a:ln/>
        </p:spPr>
        <p:txBody>
          <a:bodyPr wrap="square" rtlCol="0" anchor="ctr"/>
          <a:lstStyle/>
          <a:p>
            <a:pPr indent="0" marL="0">
              <a:buNone/>
            </a:pPr>
            <a:r>
              <a:rPr lang="en-US" sz="1400" b="1" dirty="0">
                <a:solidFill>
                  <a:srgbClr val="0C2B2E"/>
                </a:solidFill>
                <a:latin typeface="Calibri" pitchFamily="34" charset="0"/>
                <a:ea typeface="Calibri" pitchFamily="34" charset="-122"/>
                <a:cs typeface="Calibri" pitchFamily="34" charset="-120"/>
              </a:rPr>
              <a:t>Tables</a:t>
            </a:r>
            <a:endParaRPr lang="en-US" sz="1400" dirty="0"/>
          </a:p>
          <a:p>
            <a:pPr indent="0" marL="0">
              <a:buNone/>
            </a:pPr>
            <a:r>
              <a:rPr lang="en-US" sz="1150" dirty="0">
                <a:solidFill>
                  <a:srgbClr val="5B7C7E"/>
                </a:solidFill>
                <a:latin typeface="Calibri" pitchFamily="34" charset="0"/>
                <a:ea typeface="Calibri" pitchFamily="34" charset="-122"/>
                <a:cs typeface="Calibri" pitchFamily="34" charset="-120"/>
              </a:rPr>
              <a:t>11 tables implemented in MySQL, one per core entity</a:t>
            </a:r>
            <a:endParaRPr lang="en-US" sz="1400" dirty="0"/>
          </a:p>
        </p:txBody>
      </p:sp>
      <p:sp>
        <p:nvSpPr>
          <p:cNvPr id="8" name="Shape 6"/>
          <p:cNvSpPr/>
          <p:nvPr/>
        </p:nvSpPr>
        <p:spPr>
          <a:xfrm>
            <a:off x="548640" y="2697480"/>
            <a:ext cx="5303520" cy="868680"/>
          </a:xfrm>
          <a:prstGeom prst="roundRect">
            <a:avLst>
              <a:gd name="adj" fmla="val 8421"/>
            </a:avLst>
          </a:prstGeom>
          <a:solidFill>
            <a:srgbClr val="F4FAF9"/>
          </a:solidFill>
          <a:ln/>
        </p:spPr>
      </p:sp>
      <p:sp>
        <p:nvSpPr>
          <p:cNvPr id="9" name="Shape 7"/>
          <p:cNvSpPr/>
          <p:nvPr/>
        </p:nvSpPr>
        <p:spPr>
          <a:xfrm>
            <a:off x="777240" y="2852928"/>
            <a:ext cx="384048" cy="384048"/>
          </a:xfrm>
          <a:prstGeom prst="ellipse">
            <a:avLst/>
          </a:prstGeom>
          <a:solidFill>
            <a:srgbClr val="00A896"/>
          </a:solidFill>
          <a:ln/>
        </p:spPr>
      </p:sp>
      <p:sp>
        <p:nvSpPr>
          <p:cNvPr id="10" name="Text 8"/>
          <p:cNvSpPr/>
          <p:nvPr/>
        </p:nvSpPr>
        <p:spPr>
          <a:xfrm>
            <a:off x="777240" y="2852928"/>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K</a:t>
            </a:r>
            <a:endParaRPr lang="en-US" sz="1092" dirty="0"/>
          </a:p>
        </p:txBody>
      </p:sp>
      <p:sp>
        <p:nvSpPr>
          <p:cNvPr id="11" name="Text 9"/>
          <p:cNvSpPr/>
          <p:nvPr/>
        </p:nvSpPr>
        <p:spPr>
          <a:xfrm>
            <a:off x="1325880" y="2743200"/>
            <a:ext cx="4434840" cy="731520"/>
          </a:xfrm>
          <a:prstGeom prst="rect">
            <a:avLst/>
          </a:prstGeom>
          <a:noFill/>
          <a:ln/>
        </p:spPr>
        <p:txBody>
          <a:bodyPr wrap="square" rtlCol="0" anchor="ctr"/>
          <a:lstStyle/>
          <a:p>
            <a:pPr indent="0" marL="0">
              <a:buNone/>
            </a:pPr>
            <a:r>
              <a:rPr lang="en-US" sz="1400" b="1" dirty="0">
                <a:solidFill>
                  <a:srgbClr val="0C2B2E"/>
                </a:solidFill>
                <a:latin typeface="Calibri" pitchFamily="34" charset="0"/>
                <a:ea typeface="Calibri" pitchFamily="34" charset="-122"/>
                <a:cs typeface="Calibri" pitchFamily="34" charset="-120"/>
              </a:rPr>
              <a:t>PK / FK</a:t>
            </a:r>
            <a:endParaRPr lang="en-US" sz="1400" dirty="0"/>
          </a:p>
          <a:p>
            <a:pPr indent="0" marL="0">
              <a:buNone/>
            </a:pPr>
            <a:r>
              <a:rPr lang="en-US" sz="1150" dirty="0">
                <a:solidFill>
                  <a:srgbClr val="5B7C7E"/>
                </a:solidFill>
                <a:latin typeface="Calibri" pitchFamily="34" charset="0"/>
                <a:ea typeface="Calibri" pitchFamily="34" charset="-122"/>
                <a:cs typeface="Calibri" pitchFamily="34" charset="-120"/>
              </a:rPr>
              <a:t>Primary keys uniquely identify rows; foreign keys preserve referential integrity</a:t>
            </a:r>
            <a:endParaRPr lang="en-US" sz="1400" dirty="0"/>
          </a:p>
        </p:txBody>
      </p:sp>
      <p:sp>
        <p:nvSpPr>
          <p:cNvPr id="12" name="Shape 10"/>
          <p:cNvSpPr/>
          <p:nvPr/>
        </p:nvSpPr>
        <p:spPr>
          <a:xfrm>
            <a:off x="548640" y="3703320"/>
            <a:ext cx="5303520" cy="868680"/>
          </a:xfrm>
          <a:prstGeom prst="roundRect">
            <a:avLst>
              <a:gd name="adj" fmla="val 8421"/>
            </a:avLst>
          </a:prstGeom>
          <a:solidFill>
            <a:srgbClr val="F4FAF9"/>
          </a:solidFill>
          <a:ln/>
        </p:spPr>
      </p:sp>
      <p:sp>
        <p:nvSpPr>
          <p:cNvPr id="13" name="Shape 11"/>
          <p:cNvSpPr/>
          <p:nvPr/>
        </p:nvSpPr>
        <p:spPr>
          <a:xfrm>
            <a:off x="777240" y="3858768"/>
            <a:ext cx="384048" cy="384048"/>
          </a:xfrm>
          <a:prstGeom prst="ellipse">
            <a:avLst/>
          </a:prstGeom>
          <a:solidFill>
            <a:srgbClr val="00A896"/>
          </a:solidFill>
          <a:ln/>
        </p:spPr>
      </p:sp>
      <p:sp>
        <p:nvSpPr>
          <p:cNvPr id="14" name="Text 12"/>
          <p:cNvSpPr/>
          <p:nvPr/>
        </p:nvSpPr>
        <p:spPr>
          <a:xfrm>
            <a:off x="777240" y="3858768"/>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C</a:t>
            </a:r>
            <a:endParaRPr lang="en-US" sz="1092" dirty="0"/>
          </a:p>
        </p:txBody>
      </p:sp>
      <p:sp>
        <p:nvSpPr>
          <p:cNvPr id="15" name="Text 13"/>
          <p:cNvSpPr/>
          <p:nvPr/>
        </p:nvSpPr>
        <p:spPr>
          <a:xfrm>
            <a:off x="1325880" y="3749040"/>
            <a:ext cx="4434840" cy="731520"/>
          </a:xfrm>
          <a:prstGeom prst="rect">
            <a:avLst/>
          </a:prstGeom>
          <a:noFill/>
          <a:ln/>
        </p:spPr>
        <p:txBody>
          <a:bodyPr wrap="square" rtlCol="0" anchor="ctr"/>
          <a:lstStyle/>
          <a:p>
            <a:pPr indent="0" marL="0">
              <a:buNone/>
            </a:pPr>
            <a:r>
              <a:rPr lang="en-US" sz="1400" b="1" dirty="0">
                <a:solidFill>
                  <a:srgbClr val="0C2B2E"/>
                </a:solidFill>
                <a:latin typeface="Calibri" pitchFamily="34" charset="0"/>
                <a:ea typeface="Calibri" pitchFamily="34" charset="-122"/>
                <a:cs typeface="Calibri" pitchFamily="34" charset="-120"/>
              </a:rPr>
              <a:t>Constraints</a:t>
            </a:r>
            <a:endParaRPr lang="en-US" sz="1400" dirty="0"/>
          </a:p>
          <a:p>
            <a:pPr indent="0" marL="0">
              <a:buNone/>
            </a:pPr>
            <a:r>
              <a:rPr lang="en-US" sz="1150" dirty="0">
                <a:solidFill>
                  <a:srgbClr val="5B7C7E"/>
                </a:solidFill>
                <a:latin typeface="Calibri" pitchFamily="34" charset="0"/>
                <a:ea typeface="Calibri" pitchFamily="34" charset="-122"/>
                <a:cs typeface="Calibri" pitchFamily="34" charset="-120"/>
              </a:rPr>
              <a:t>UNIQUE and CHECK constraints enforce codes, emails, and positive volumes</a:t>
            </a:r>
            <a:endParaRPr lang="en-US" sz="1400" dirty="0"/>
          </a:p>
        </p:txBody>
      </p:sp>
      <p:sp>
        <p:nvSpPr>
          <p:cNvPr id="16" name="Text 14"/>
          <p:cNvSpPr/>
          <p:nvPr/>
        </p:nvSpPr>
        <p:spPr>
          <a:xfrm>
            <a:off x="548640" y="4754880"/>
            <a:ext cx="5303520" cy="731520"/>
          </a:xfrm>
          <a:prstGeom prst="rect">
            <a:avLst/>
          </a:prstGeom>
          <a:noFill/>
          <a:ln/>
        </p:spPr>
        <p:txBody>
          <a:bodyPr wrap="square" rtlCol="0" anchor="t"/>
          <a:lstStyle/>
          <a:p>
            <a:pPr indent="0" marL="0">
              <a:buNone/>
            </a:pPr>
            <a:r>
              <a:rPr lang="en-US" sz="1100" i="1" dirty="0">
                <a:solidFill>
                  <a:srgbClr val="5B7C7E"/>
                </a:solidFill>
                <a:latin typeface="Calibri" pitchFamily="34" charset="0"/>
                <a:ea typeface="Calibri" pitchFamily="34" charset="-122"/>
                <a:cs typeface="Calibri" pitchFamily="34" charset="-120"/>
              </a:rPr>
              <a:t>Organized into separate scripts: create_tables.sql · load_data.sql · queries.sql · views.sql · triggers_procedures.sql</a:t>
            </a:r>
            <a:endParaRPr lang="en-US" sz="1100" dirty="0"/>
          </a:p>
        </p:txBody>
      </p:sp>
      <p:sp>
        <p:nvSpPr>
          <p:cNvPr id="17" name="Shape 15"/>
          <p:cNvSpPr/>
          <p:nvPr/>
        </p:nvSpPr>
        <p:spPr>
          <a:xfrm>
            <a:off x="6172200" y="1691640"/>
            <a:ext cx="5486400" cy="4709160"/>
          </a:xfrm>
          <a:prstGeom prst="roundRect">
            <a:avLst>
              <a:gd name="adj" fmla="val 1165"/>
            </a:avLst>
          </a:prstGeom>
          <a:solidFill>
            <a:srgbClr val="023436"/>
          </a:solidFill>
          <a:ln/>
        </p:spPr>
      </p:sp>
      <p:pic>
        <p:nvPicPr>
          <p:cNvPr id="18" name="Image 0" descr="/home/claude/assets/tables.png">    </p:cNvPr>
          <p:cNvPicPr>
            <a:picLocks noChangeAspect="1"/>
          </p:cNvPicPr>
          <p:nvPr/>
        </p:nvPicPr>
        <p:blipFill>
          <a:blip r:embed="rId1"/>
          <a:stretch>
            <a:fillRect/>
          </a:stretch>
        </p:blipFill>
        <p:spPr>
          <a:xfrm>
            <a:off x="6355080" y="1874520"/>
            <a:ext cx="5120640" cy="2971800"/>
          </a:xfrm>
          <a:prstGeom prst="rect">
            <a:avLst/>
          </a:prstGeom>
        </p:spPr>
      </p:pic>
      <p:sp>
        <p:nvSpPr>
          <p:cNvPr id="19" name="Text 16"/>
          <p:cNvSpPr/>
          <p:nvPr/>
        </p:nvSpPr>
        <p:spPr>
          <a:xfrm>
            <a:off x="6355080" y="4937760"/>
            <a:ext cx="5120640" cy="1280160"/>
          </a:xfrm>
          <a:prstGeom prst="rect">
            <a:avLst/>
          </a:prstGeom>
          <a:noFill/>
          <a:ln/>
        </p:spPr>
        <p:txBody>
          <a:bodyPr wrap="square" rtlCol="0" anchor="t"/>
          <a:lstStyle/>
          <a:p>
            <a:pPr indent="0" marL="0">
              <a:buNone/>
            </a:pPr>
            <a:r>
              <a:rPr lang="en-US" sz="1200" i="1" dirty="0">
                <a:solidFill>
                  <a:srgbClr val="BFE3E0"/>
                </a:solidFill>
                <a:latin typeface="Calibri" pitchFamily="34" charset="0"/>
                <a:ea typeface="Calibri" pitchFamily="34" charset="-122"/>
                <a:cs typeface="Calibri" pitchFamily="34" charset="-120"/>
              </a:rPr>
              <a:t>All 11 tables successfully created in MySQL Workbench (SHOW TABLES).</a:t>
            </a:r>
            <a:endParaRPr lang="en-US" sz="1200" dirty="0"/>
          </a:p>
        </p:txBody>
      </p:sp>
      <p:sp>
        <p:nvSpPr>
          <p:cNvPr id="20" name="Text 17"/>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5B7C7E"/>
                </a:solidFill>
                <a:latin typeface="Calibri" pitchFamily="34" charset="0"/>
                <a:ea typeface="Calibri" pitchFamily="34" charset="-122"/>
                <a:cs typeface="Calibri" pitchFamily="34" charset="-120"/>
              </a:rPr>
              <a:t>Biobank &amp; Biospecimen Management System</a:t>
            </a:r>
            <a:endParaRPr lang="en-US" sz="900" dirty="0"/>
          </a:p>
        </p:txBody>
      </p:sp>
      <p:sp>
        <p:nvSpPr>
          <p:cNvPr id="21" name="Text 1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7C7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QUERYING</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0C2B2E"/>
                </a:solidFill>
                <a:latin typeface="Cambria" pitchFamily="34" charset="0"/>
                <a:ea typeface="Cambria" pitchFamily="34" charset="-122"/>
                <a:cs typeface="Cambria" pitchFamily="34" charset="-120"/>
              </a:rPr>
              <a:t>SQL Queries</a:t>
            </a:r>
            <a:endParaRPr lang="en-US" sz="3200" dirty="0"/>
          </a:p>
        </p:txBody>
      </p:sp>
      <p:sp>
        <p:nvSpPr>
          <p:cNvPr id="4" name="Shape 2"/>
          <p:cNvSpPr/>
          <p:nvPr/>
        </p:nvSpPr>
        <p:spPr>
          <a:xfrm>
            <a:off x="548640" y="1691640"/>
            <a:ext cx="2651760" cy="1234440"/>
          </a:xfrm>
          <a:prstGeom prst="roundRect">
            <a:avLst>
              <a:gd name="adj" fmla="val 5926"/>
            </a:avLst>
          </a:prstGeom>
          <a:solidFill>
            <a:srgbClr val="F4FAF9"/>
          </a:solidFill>
          <a:ln/>
        </p:spPr>
      </p:sp>
      <p:sp>
        <p:nvSpPr>
          <p:cNvPr id="5" name="Text 3"/>
          <p:cNvSpPr/>
          <p:nvPr/>
        </p:nvSpPr>
        <p:spPr>
          <a:xfrm>
            <a:off x="731520" y="1801368"/>
            <a:ext cx="2286000" cy="365760"/>
          </a:xfrm>
          <a:prstGeom prst="rect">
            <a:avLst/>
          </a:prstGeom>
          <a:noFill/>
          <a:ln/>
        </p:spPr>
        <p:txBody>
          <a:bodyPr wrap="square" rtlCol="0" anchor="ctr"/>
          <a:lstStyle/>
          <a:p>
            <a:pPr indent="0" marL="0">
              <a:buNone/>
            </a:pPr>
            <a:r>
              <a:rPr lang="en-US" sz="1450" b="1" dirty="0">
                <a:solidFill>
                  <a:srgbClr val="028090"/>
                </a:solidFill>
                <a:latin typeface="Cambria" pitchFamily="34" charset="0"/>
                <a:ea typeface="Cambria" pitchFamily="34" charset="-122"/>
                <a:cs typeface="Cambria" pitchFamily="34" charset="-120"/>
              </a:rPr>
              <a:t>SELECT</a:t>
            </a:r>
            <a:endParaRPr lang="en-US" sz="1450" dirty="0"/>
          </a:p>
        </p:txBody>
      </p:sp>
      <p:sp>
        <p:nvSpPr>
          <p:cNvPr id="6" name="Text 4"/>
          <p:cNvSpPr/>
          <p:nvPr/>
        </p:nvSpPr>
        <p:spPr>
          <a:xfrm>
            <a:off x="731520" y="2167128"/>
            <a:ext cx="2331720" cy="685800"/>
          </a:xfrm>
          <a:prstGeom prst="rect">
            <a:avLst/>
          </a:prstGeom>
          <a:noFill/>
          <a:ln/>
        </p:spPr>
        <p:txBody>
          <a:bodyPr wrap="square" rtlCol="0" anchor="t"/>
          <a:lstStyle/>
          <a:p>
            <a:pPr indent="0" marL="0">
              <a:lnSpc>
                <a:spcPct val="115000"/>
              </a:lnSpc>
              <a:buNone/>
            </a:pPr>
            <a:r>
              <a:rPr lang="en-US" sz="1050" dirty="0">
                <a:solidFill>
                  <a:srgbClr val="0C2B2E"/>
                </a:solidFill>
                <a:latin typeface="Calibri" pitchFamily="34" charset="0"/>
                <a:ea typeface="Calibri" pitchFamily="34" charset="-122"/>
                <a:cs typeface="Calibri" pitchFamily="34" charset="-120"/>
              </a:rPr>
              <a:t>Retrieval of donors by sex, blood group, or registration date</a:t>
            </a:r>
            <a:endParaRPr lang="en-US" sz="1050" dirty="0"/>
          </a:p>
        </p:txBody>
      </p:sp>
      <p:sp>
        <p:nvSpPr>
          <p:cNvPr id="7" name="Shape 5"/>
          <p:cNvSpPr/>
          <p:nvPr/>
        </p:nvSpPr>
        <p:spPr>
          <a:xfrm>
            <a:off x="3383280" y="1691640"/>
            <a:ext cx="2651760" cy="1234440"/>
          </a:xfrm>
          <a:prstGeom prst="roundRect">
            <a:avLst>
              <a:gd name="adj" fmla="val 5926"/>
            </a:avLst>
          </a:prstGeom>
          <a:solidFill>
            <a:srgbClr val="F4FAF9"/>
          </a:solidFill>
          <a:ln/>
        </p:spPr>
      </p:sp>
      <p:sp>
        <p:nvSpPr>
          <p:cNvPr id="8" name="Text 6"/>
          <p:cNvSpPr/>
          <p:nvPr/>
        </p:nvSpPr>
        <p:spPr>
          <a:xfrm>
            <a:off x="3566160" y="1801368"/>
            <a:ext cx="2286000" cy="365760"/>
          </a:xfrm>
          <a:prstGeom prst="rect">
            <a:avLst/>
          </a:prstGeom>
          <a:noFill/>
          <a:ln/>
        </p:spPr>
        <p:txBody>
          <a:bodyPr wrap="square" rtlCol="0" anchor="ctr"/>
          <a:lstStyle/>
          <a:p>
            <a:pPr indent="0" marL="0">
              <a:buNone/>
            </a:pPr>
            <a:r>
              <a:rPr lang="en-US" sz="1450" b="1" dirty="0">
                <a:solidFill>
                  <a:srgbClr val="028090"/>
                </a:solidFill>
                <a:latin typeface="Cambria" pitchFamily="34" charset="0"/>
                <a:ea typeface="Cambria" pitchFamily="34" charset="-122"/>
                <a:cs typeface="Cambria" pitchFamily="34" charset="-120"/>
              </a:rPr>
              <a:t>JOIN</a:t>
            </a:r>
            <a:endParaRPr lang="en-US" sz="1450" dirty="0"/>
          </a:p>
        </p:txBody>
      </p:sp>
      <p:sp>
        <p:nvSpPr>
          <p:cNvPr id="9" name="Text 7"/>
          <p:cNvSpPr/>
          <p:nvPr/>
        </p:nvSpPr>
        <p:spPr>
          <a:xfrm>
            <a:off x="3566160" y="2167128"/>
            <a:ext cx="2331720" cy="685800"/>
          </a:xfrm>
          <a:prstGeom prst="rect">
            <a:avLst/>
          </a:prstGeom>
          <a:noFill/>
          <a:ln/>
        </p:spPr>
        <p:txBody>
          <a:bodyPr wrap="square" rtlCol="0" anchor="t"/>
          <a:lstStyle/>
          <a:p>
            <a:pPr indent="0" marL="0">
              <a:lnSpc>
                <a:spcPct val="115000"/>
              </a:lnSpc>
              <a:buNone/>
            </a:pPr>
            <a:r>
              <a:rPr lang="en-US" sz="1050" dirty="0">
                <a:solidFill>
                  <a:srgbClr val="0C2B2E"/>
                </a:solidFill>
                <a:latin typeface="Calibri" pitchFamily="34" charset="0"/>
                <a:ea typeface="Calibri" pitchFamily="34" charset="-122"/>
                <a:cs typeface="Calibri" pitchFamily="34" charset="-120"/>
              </a:rPr>
              <a:t>Combine Sample, Donor, and Sample_Type across tables</a:t>
            </a:r>
            <a:endParaRPr lang="en-US" sz="1050" dirty="0"/>
          </a:p>
        </p:txBody>
      </p:sp>
      <p:sp>
        <p:nvSpPr>
          <p:cNvPr id="10" name="Shape 8"/>
          <p:cNvSpPr/>
          <p:nvPr/>
        </p:nvSpPr>
        <p:spPr>
          <a:xfrm>
            <a:off x="548640" y="3108960"/>
            <a:ext cx="2651760" cy="1234440"/>
          </a:xfrm>
          <a:prstGeom prst="roundRect">
            <a:avLst>
              <a:gd name="adj" fmla="val 5926"/>
            </a:avLst>
          </a:prstGeom>
          <a:solidFill>
            <a:srgbClr val="F4FAF9"/>
          </a:solidFill>
          <a:ln/>
        </p:spPr>
      </p:sp>
      <p:sp>
        <p:nvSpPr>
          <p:cNvPr id="11" name="Text 9"/>
          <p:cNvSpPr/>
          <p:nvPr/>
        </p:nvSpPr>
        <p:spPr>
          <a:xfrm>
            <a:off x="731520" y="3218688"/>
            <a:ext cx="2286000" cy="365760"/>
          </a:xfrm>
          <a:prstGeom prst="rect">
            <a:avLst/>
          </a:prstGeom>
          <a:noFill/>
          <a:ln/>
        </p:spPr>
        <p:txBody>
          <a:bodyPr wrap="square" rtlCol="0" anchor="ctr"/>
          <a:lstStyle/>
          <a:p>
            <a:pPr indent="0" marL="0">
              <a:buNone/>
            </a:pPr>
            <a:r>
              <a:rPr lang="en-US" sz="1450" b="1" dirty="0">
                <a:solidFill>
                  <a:srgbClr val="028090"/>
                </a:solidFill>
                <a:latin typeface="Cambria" pitchFamily="34" charset="0"/>
                <a:ea typeface="Cambria" pitchFamily="34" charset="-122"/>
                <a:cs typeface="Cambria" pitchFamily="34" charset="-120"/>
              </a:rPr>
              <a:t>Aggregation</a:t>
            </a:r>
            <a:endParaRPr lang="en-US" sz="1450" dirty="0"/>
          </a:p>
        </p:txBody>
      </p:sp>
      <p:sp>
        <p:nvSpPr>
          <p:cNvPr id="12" name="Text 10"/>
          <p:cNvSpPr/>
          <p:nvPr/>
        </p:nvSpPr>
        <p:spPr>
          <a:xfrm>
            <a:off x="731520" y="3584448"/>
            <a:ext cx="2331720" cy="685800"/>
          </a:xfrm>
          <a:prstGeom prst="rect">
            <a:avLst/>
          </a:prstGeom>
          <a:noFill/>
          <a:ln/>
        </p:spPr>
        <p:txBody>
          <a:bodyPr wrap="square" rtlCol="0" anchor="t"/>
          <a:lstStyle/>
          <a:p>
            <a:pPr indent="0" marL="0">
              <a:lnSpc>
                <a:spcPct val="115000"/>
              </a:lnSpc>
              <a:buNone/>
            </a:pPr>
            <a:r>
              <a:rPr lang="en-US" sz="1050" dirty="0">
                <a:solidFill>
                  <a:srgbClr val="0C2B2E"/>
                </a:solidFill>
                <a:latin typeface="Calibri" pitchFamily="34" charset="0"/>
                <a:ea typeface="Calibri" pitchFamily="34" charset="-122"/>
                <a:cs typeface="Calibri" pitchFamily="34" charset="-120"/>
              </a:rPr>
              <a:t>Count donors by blood group; average sample volume</a:t>
            </a:r>
            <a:endParaRPr lang="en-US" sz="1050" dirty="0"/>
          </a:p>
        </p:txBody>
      </p:sp>
      <p:sp>
        <p:nvSpPr>
          <p:cNvPr id="13" name="Shape 11"/>
          <p:cNvSpPr/>
          <p:nvPr/>
        </p:nvSpPr>
        <p:spPr>
          <a:xfrm>
            <a:off x="3383280" y="3108960"/>
            <a:ext cx="2651760" cy="1234440"/>
          </a:xfrm>
          <a:prstGeom prst="roundRect">
            <a:avLst>
              <a:gd name="adj" fmla="val 5926"/>
            </a:avLst>
          </a:prstGeom>
          <a:solidFill>
            <a:srgbClr val="F4FAF9"/>
          </a:solidFill>
          <a:ln/>
        </p:spPr>
      </p:sp>
      <p:sp>
        <p:nvSpPr>
          <p:cNvPr id="14" name="Text 12"/>
          <p:cNvSpPr/>
          <p:nvPr/>
        </p:nvSpPr>
        <p:spPr>
          <a:xfrm>
            <a:off x="3566160" y="3218688"/>
            <a:ext cx="2286000" cy="365760"/>
          </a:xfrm>
          <a:prstGeom prst="rect">
            <a:avLst/>
          </a:prstGeom>
          <a:noFill/>
          <a:ln/>
        </p:spPr>
        <p:txBody>
          <a:bodyPr wrap="square" rtlCol="0" anchor="ctr"/>
          <a:lstStyle/>
          <a:p>
            <a:pPr indent="0" marL="0">
              <a:buNone/>
            </a:pPr>
            <a:r>
              <a:rPr lang="en-US" sz="1450" b="1" dirty="0">
                <a:solidFill>
                  <a:srgbClr val="028090"/>
                </a:solidFill>
                <a:latin typeface="Cambria" pitchFamily="34" charset="0"/>
                <a:ea typeface="Cambria" pitchFamily="34" charset="-122"/>
                <a:cs typeface="Cambria" pitchFamily="34" charset="-120"/>
              </a:rPr>
              <a:t>Subqueries</a:t>
            </a:r>
            <a:endParaRPr lang="en-US" sz="1450" dirty="0"/>
          </a:p>
        </p:txBody>
      </p:sp>
      <p:sp>
        <p:nvSpPr>
          <p:cNvPr id="15" name="Text 13"/>
          <p:cNvSpPr/>
          <p:nvPr/>
        </p:nvSpPr>
        <p:spPr>
          <a:xfrm>
            <a:off x="3566160" y="3584448"/>
            <a:ext cx="2331720" cy="685800"/>
          </a:xfrm>
          <a:prstGeom prst="rect">
            <a:avLst/>
          </a:prstGeom>
          <a:noFill/>
          <a:ln/>
        </p:spPr>
        <p:txBody>
          <a:bodyPr wrap="square" rtlCol="0" anchor="t"/>
          <a:lstStyle/>
          <a:p>
            <a:pPr indent="0" marL="0">
              <a:lnSpc>
                <a:spcPct val="115000"/>
              </a:lnSpc>
              <a:buNone/>
            </a:pPr>
            <a:r>
              <a:rPr lang="en-US" sz="1050" dirty="0">
                <a:solidFill>
                  <a:srgbClr val="0C2B2E"/>
                </a:solidFill>
                <a:latin typeface="Calibri" pitchFamily="34" charset="0"/>
                <a:ea typeface="Calibri" pitchFamily="34" charset="-122"/>
                <a:cs typeface="Calibri" pitchFamily="34" charset="-120"/>
              </a:rPr>
              <a:t>Samples above average volume; researchers with approved requests</a:t>
            </a:r>
            <a:endParaRPr lang="en-US" sz="1050" dirty="0"/>
          </a:p>
        </p:txBody>
      </p:sp>
      <p:sp>
        <p:nvSpPr>
          <p:cNvPr id="16" name="Shape 14"/>
          <p:cNvSpPr/>
          <p:nvPr/>
        </p:nvSpPr>
        <p:spPr>
          <a:xfrm>
            <a:off x="548640" y="5623560"/>
            <a:ext cx="5669280" cy="502920"/>
          </a:xfrm>
          <a:prstGeom prst="roundRect">
            <a:avLst>
              <a:gd name="adj" fmla="val 14545"/>
            </a:avLst>
          </a:prstGeom>
          <a:solidFill>
            <a:srgbClr val="028090"/>
          </a:solidFill>
          <a:ln/>
        </p:spPr>
      </p:sp>
      <p:sp>
        <p:nvSpPr>
          <p:cNvPr id="17" name="Text 15"/>
          <p:cNvSpPr/>
          <p:nvPr/>
        </p:nvSpPr>
        <p:spPr>
          <a:xfrm>
            <a:off x="777240" y="5623560"/>
            <a:ext cx="530352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Plus tested INSERT, UPDATE, and DELETE operations</a:t>
            </a:r>
            <a:endParaRPr lang="en-US" sz="1200" dirty="0"/>
          </a:p>
        </p:txBody>
      </p:sp>
      <p:sp>
        <p:nvSpPr>
          <p:cNvPr id="18" name="Shape 16"/>
          <p:cNvSpPr/>
          <p:nvPr/>
        </p:nvSpPr>
        <p:spPr>
          <a:xfrm>
            <a:off x="6492240" y="1691640"/>
            <a:ext cx="5166360" cy="4434840"/>
          </a:xfrm>
          <a:prstGeom prst="roundRect">
            <a:avLst>
              <a:gd name="adj" fmla="val 1237"/>
            </a:avLst>
          </a:prstGeom>
          <a:solidFill>
            <a:srgbClr val="023436"/>
          </a:solidFill>
          <a:ln/>
        </p:spPr>
      </p:sp>
      <p:pic>
        <p:nvPicPr>
          <p:cNvPr id="19" name="Image 0" descr="/home/claude/assets/join.png">    </p:cNvPr>
          <p:cNvPicPr>
            <a:picLocks noChangeAspect="1"/>
          </p:cNvPicPr>
          <p:nvPr/>
        </p:nvPicPr>
        <p:blipFill>
          <a:blip r:embed="rId1"/>
          <a:stretch>
            <a:fillRect/>
          </a:stretch>
        </p:blipFill>
        <p:spPr>
          <a:xfrm>
            <a:off x="6629400" y="1810512"/>
            <a:ext cx="4892040" cy="3886200"/>
          </a:xfrm>
          <a:prstGeom prst="rect">
            <a:avLst/>
          </a:prstGeom>
        </p:spPr>
      </p:pic>
      <p:sp>
        <p:nvSpPr>
          <p:cNvPr id="20" name="Text 17"/>
          <p:cNvSpPr/>
          <p:nvPr/>
        </p:nvSpPr>
        <p:spPr>
          <a:xfrm>
            <a:off x="6629400" y="5715000"/>
            <a:ext cx="4892040" cy="365760"/>
          </a:xfrm>
          <a:prstGeom prst="rect">
            <a:avLst/>
          </a:prstGeom>
          <a:noFill/>
          <a:ln/>
        </p:spPr>
        <p:txBody>
          <a:bodyPr wrap="square" rtlCol="0" anchor="ctr"/>
          <a:lstStyle/>
          <a:p>
            <a:pPr algn="ctr" indent="0" marL="0">
              <a:buNone/>
            </a:pPr>
            <a:r>
              <a:rPr lang="en-US" sz="1050" i="1" dirty="0">
                <a:solidFill>
                  <a:srgbClr val="BFE3E0"/>
                </a:solidFill>
                <a:latin typeface="Calibri" pitchFamily="34" charset="0"/>
                <a:ea typeface="Calibri" pitchFamily="34" charset="-122"/>
                <a:cs typeface="Calibri" pitchFamily="34" charset="-120"/>
              </a:rPr>
              <a:t>Multi-table JOIN — Sample, Collection_Event, and Donor combined</a:t>
            </a:r>
            <a:endParaRPr lang="en-US" sz="1050" dirty="0"/>
          </a:p>
        </p:txBody>
      </p:sp>
      <p:sp>
        <p:nvSpPr>
          <p:cNvPr id="21" name="Text 18"/>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5B7C7E"/>
                </a:solidFill>
                <a:latin typeface="Calibri" pitchFamily="34" charset="0"/>
                <a:ea typeface="Calibri" pitchFamily="34" charset="-122"/>
                <a:cs typeface="Calibri" pitchFamily="34" charset="-120"/>
              </a:rPr>
              <a:t>Biobank &amp; Biospecimen Management System</a:t>
            </a:r>
            <a:endParaRPr lang="en-US" sz="900" dirty="0"/>
          </a:p>
        </p:txBody>
      </p:sp>
      <p:sp>
        <p:nvSpPr>
          <p:cNvPr id="22"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7C7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SIMPLIFYING ACCESS</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0C2B2E"/>
                </a:solidFill>
                <a:latin typeface="Cambria" pitchFamily="34" charset="0"/>
                <a:ea typeface="Cambria" pitchFamily="34" charset="-122"/>
                <a:cs typeface="Cambria" pitchFamily="34" charset="-120"/>
              </a:rPr>
              <a:t>Database Views</a:t>
            </a:r>
            <a:endParaRPr lang="en-US" sz="3200" dirty="0"/>
          </a:p>
        </p:txBody>
      </p:sp>
      <p:sp>
        <p:nvSpPr>
          <p:cNvPr id="4" name="Shape 2"/>
          <p:cNvSpPr/>
          <p:nvPr/>
        </p:nvSpPr>
        <p:spPr>
          <a:xfrm>
            <a:off x="548640" y="1737360"/>
            <a:ext cx="5212080" cy="1965960"/>
          </a:xfrm>
          <a:prstGeom prst="roundRect">
            <a:avLst>
              <a:gd name="adj" fmla="val 4651"/>
            </a:avLst>
          </a:prstGeom>
          <a:solidFill>
            <a:srgbClr val="028090"/>
          </a:solidFill>
          <a:ln/>
        </p:spPr>
      </p:sp>
      <p:sp>
        <p:nvSpPr>
          <p:cNvPr id="5" name="Text 3"/>
          <p:cNvSpPr/>
          <p:nvPr/>
        </p:nvSpPr>
        <p:spPr>
          <a:xfrm>
            <a:off x="822960" y="1920240"/>
            <a:ext cx="466344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sample_inventory</a:t>
            </a:r>
            <a:endParaRPr lang="en-US" sz="1700" dirty="0"/>
          </a:p>
        </p:txBody>
      </p:sp>
      <p:sp>
        <p:nvSpPr>
          <p:cNvPr id="6" name="Text 4"/>
          <p:cNvSpPr/>
          <p:nvPr/>
        </p:nvSpPr>
        <p:spPr>
          <a:xfrm>
            <a:off x="822960" y="2423160"/>
            <a:ext cx="4663440" cy="1188720"/>
          </a:xfrm>
          <a:prstGeom prst="rect">
            <a:avLst/>
          </a:prstGeom>
          <a:noFill/>
          <a:ln/>
        </p:spPr>
        <p:txBody>
          <a:bodyPr wrap="square" rtlCol="0" anchor="t"/>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Combines sample records with their current storage location for a single, ready-to-query inventory view.</a:t>
            </a:r>
            <a:endParaRPr lang="en-US" sz="1250" dirty="0"/>
          </a:p>
        </p:txBody>
      </p:sp>
      <p:sp>
        <p:nvSpPr>
          <p:cNvPr id="7" name="Shape 5"/>
          <p:cNvSpPr/>
          <p:nvPr/>
        </p:nvSpPr>
        <p:spPr>
          <a:xfrm>
            <a:off x="548640" y="3886200"/>
            <a:ext cx="5212080" cy="1965960"/>
          </a:xfrm>
          <a:prstGeom prst="roundRect">
            <a:avLst>
              <a:gd name="adj" fmla="val 4651"/>
            </a:avLst>
          </a:prstGeom>
          <a:solidFill>
            <a:srgbClr val="00A896"/>
          </a:solidFill>
          <a:ln/>
        </p:spPr>
      </p:sp>
      <p:sp>
        <p:nvSpPr>
          <p:cNvPr id="8" name="Text 6"/>
          <p:cNvSpPr/>
          <p:nvPr/>
        </p:nvSpPr>
        <p:spPr>
          <a:xfrm>
            <a:off x="822960" y="4069080"/>
            <a:ext cx="466344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research_activity</a:t>
            </a:r>
            <a:endParaRPr lang="en-US" sz="1700" dirty="0"/>
          </a:p>
        </p:txBody>
      </p:sp>
      <p:sp>
        <p:nvSpPr>
          <p:cNvPr id="9" name="Text 7"/>
          <p:cNvSpPr/>
          <p:nvPr/>
        </p:nvSpPr>
        <p:spPr>
          <a:xfrm>
            <a:off x="822960" y="4572000"/>
            <a:ext cx="4663440" cy="1188720"/>
          </a:xfrm>
          <a:prstGeom prst="rect">
            <a:avLst/>
          </a:prstGeom>
          <a:noFill/>
          <a:ln/>
        </p:spPr>
        <p:txBody>
          <a:bodyPr wrap="square" rtlCol="0" anchor="t"/>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Summarizes researchers together with their sample requests and activity, avoiding repeated joins.</a:t>
            </a:r>
            <a:endParaRPr lang="en-US" sz="1250" dirty="0"/>
          </a:p>
        </p:txBody>
      </p:sp>
      <p:sp>
        <p:nvSpPr>
          <p:cNvPr id="10" name="Shape 8"/>
          <p:cNvSpPr/>
          <p:nvPr/>
        </p:nvSpPr>
        <p:spPr>
          <a:xfrm>
            <a:off x="6126480" y="1737360"/>
            <a:ext cx="5532120" cy="4572000"/>
          </a:xfrm>
          <a:prstGeom prst="roundRect">
            <a:avLst>
              <a:gd name="adj" fmla="val 1200"/>
            </a:avLst>
          </a:prstGeom>
          <a:solidFill>
            <a:srgbClr val="023436"/>
          </a:solidFill>
          <a:ln/>
        </p:spPr>
      </p:sp>
      <p:pic>
        <p:nvPicPr>
          <p:cNvPr id="11" name="Image 0" descr="/home/claude/assets/view1.png">    </p:cNvPr>
          <p:cNvPicPr>
            <a:picLocks noChangeAspect="1"/>
          </p:cNvPicPr>
          <p:nvPr/>
        </p:nvPicPr>
        <p:blipFill>
          <a:blip r:embed="rId1"/>
          <a:stretch>
            <a:fillRect/>
          </a:stretch>
        </p:blipFill>
        <p:spPr>
          <a:xfrm>
            <a:off x="6263640" y="1856232"/>
            <a:ext cx="5257800" cy="4114800"/>
          </a:xfrm>
          <a:prstGeom prst="rect">
            <a:avLst/>
          </a:prstGeom>
        </p:spPr>
      </p:pic>
      <p:sp>
        <p:nvSpPr>
          <p:cNvPr id="12" name="Text 9"/>
          <p:cNvSpPr/>
          <p:nvPr/>
        </p:nvSpPr>
        <p:spPr>
          <a:xfrm>
            <a:off x="6263640" y="6035040"/>
            <a:ext cx="5257800" cy="274320"/>
          </a:xfrm>
          <a:prstGeom prst="rect">
            <a:avLst/>
          </a:prstGeom>
          <a:noFill/>
          <a:ln/>
        </p:spPr>
        <p:txBody>
          <a:bodyPr wrap="square" rtlCol="0" anchor="ctr"/>
          <a:lstStyle/>
          <a:p>
            <a:pPr algn="ctr" indent="0" marL="0">
              <a:buNone/>
            </a:pPr>
            <a:r>
              <a:rPr lang="en-US" sz="1050" i="1" dirty="0">
                <a:solidFill>
                  <a:srgbClr val="BFE3E0"/>
                </a:solidFill>
                <a:latin typeface="Calibri" pitchFamily="34" charset="0"/>
                <a:ea typeface="Calibri" pitchFamily="34" charset="-122"/>
                <a:cs typeface="Calibri" pitchFamily="34" charset="-120"/>
              </a:rPr>
              <a:t>Successful execution of the sample_inventory view</a:t>
            </a:r>
            <a:endParaRPr lang="en-US" sz="1050" dirty="0"/>
          </a:p>
        </p:txBody>
      </p:sp>
      <p:sp>
        <p:nvSpPr>
          <p:cNvPr id="13" name="Text 10"/>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5B7C7E"/>
                </a:solidFill>
                <a:latin typeface="Calibri" pitchFamily="34" charset="0"/>
                <a:ea typeface="Calibri" pitchFamily="34" charset="-122"/>
                <a:cs typeface="Calibri" pitchFamily="34" charset="-120"/>
              </a:rPr>
              <a:t>Biobank &amp; Biospecimen Management System</a:t>
            </a:r>
            <a:endParaRPr lang="en-US" sz="900" dirty="0"/>
          </a:p>
        </p:txBody>
      </p:sp>
      <p:sp>
        <p:nvSpPr>
          <p:cNvPr id="14" name="Text 1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7C7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3436"/>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BUSINESS RULE ENFORCEMENT</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Trigger — check_usage_volume</a:t>
            </a:r>
            <a:endParaRPr lang="en-US" sz="3200" dirty="0"/>
          </a:p>
        </p:txBody>
      </p:sp>
      <p:sp>
        <p:nvSpPr>
          <p:cNvPr id="4" name="Shape 2"/>
          <p:cNvSpPr/>
          <p:nvPr/>
        </p:nvSpPr>
        <p:spPr>
          <a:xfrm>
            <a:off x="548640" y="1737360"/>
            <a:ext cx="5074920" cy="4709160"/>
          </a:xfrm>
          <a:prstGeom prst="roundRect">
            <a:avLst>
              <a:gd name="adj" fmla="val 1942"/>
            </a:avLst>
          </a:prstGeom>
          <a:solidFill>
            <a:srgbClr val="0B4547"/>
          </a:solidFill>
          <a:ln/>
        </p:spPr>
      </p:sp>
      <p:sp>
        <p:nvSpPr>
          <p:cNvPr id="5" name="Text 3"/>
          <p:cNvSpPr/>
          <p:nvPr/>
        </p:nvSpPr>
        <p:spPr>
          <a:xfrm>
            <a:off x="822960" y="1920240"/>
            <a:ext cx="4572000" cy="365760"/>
          </a:xfrm>
          <a:prstGeom prst="rect">
            <a:avLst/>
          </a:prstGeom>
          <a:noFill/>
          <a:ln/>
        </p:spPr>
        <p:txBody>
          <a:bodyPr wrap="square"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What it does</a:t>
            </a:r>
            <a:endParaRPr lang="en-US" sz="1600" dirty="0"/>
          </a:p>
        </p:txBody>
      </p:sp>
      <p:sp>
        <p:nvSpPr>
          <p:cNvPr id="6" name="Text 4"/>
          <p:cNvSpPr/>
          <p:nvPr/>
        </p:nvSpPr>
        <p:spPr>
          <a:xfrm>
            <a:off x="822960" y="2377440"/>
            <a:ext cx="4572000" cy="1463040"/>
          </a:xfrm>
          <a:prstGeom prst="rect">
            <a:avLst/>
          </a:prstGeom>
          <a:noFill/>
          <a:ln/>
        </p:spPr>
        <p:txBody>
          <a:bodyPr wrap="square" rtlCol="0" anchor="t"/>
          <a:lstStyle/>
          <a:p>
            <a:pPr indent="0" marL="0">
              <a:lnSpc>
                <a:spcPct val="125000"/>
              </a:lnSpc>
              <a:buNone/>
            </a:pPr>
            <a:r>
              <a:rPr lang="en-US" sz="1300" dirty="0">
                <a:solidFill>
                  <a:srgbClr val="D7EFEC"/>
                </a:solidFill>
                <a:latin typeface="Calibri" pitchFamily="34" charset="0"/>
                <a:ea typeface="Calibri" pitchFamily="34" charset="-122"/>
                <a:cs typeface="Calibri" pitchFamily="34" charset="-120"/>
              </a:rPr>
              <a:t>Fires BEFORE INSERT on Sample_Usage. It checks the requested volume_used_ml against the aliquot's available volume — if the request exceeds what's available, the insert is rejected with a clear error message.</a:t>
            </a:r>
            <a:endParaRPr lang="en-US" sz="1300" dirty="0"/>
          </a:p>
        </p:txBody>
      </p:sp>
      <p:sp>
        <p:nvSpPr>
          <p:cNvPr id="7" name="Shape 5"/>
          <p:cNvSpPr/>
          <p:nvPr/>
        </p:nvSpPr>
        <p:spPr>
          <a:xfrm>
            <a:off x="822960" y="3931920"/>
            <a:ext cx="2148840" cy="1417320"/>
          </a:xfrm>
          <a:prstGeom prst="roundRect">
            <a:avLst>
              <a:gd name="adj" fmla="val 5161"/>
            </a:avLst>
          </a:prstGeom>
          <a:solidFill>
            <a:srgbClr val="02C39A"/>
          </a:solidFill>
          <a:ln/>
        </p:spPr>
      </p:sp>
      <p:sp>
        <p:nvSpPr>
          <p:cNvPr id="8" name="Text 6"/>
          <p:cNvSpPr/>
          <p:nvPr/>
        </p:nvSpPr>
        <p:spPr>
          <a:xfrm>
            <a:off x="960120" y="4069080"/>
            <a:ext cx="1920240" cy="320040"/>
          </a:xfrm>
          <a:prstGeom prst="rect">
            <a:avLst/>
          </a:prstGeom>
          <a:noFill/>
          <a:ln/>
        </p:spPr>
        <p:txBody>
          <a:bodyPr wrap="square" rtlCol="0" anchor="ctr"/>
          <a:lstStyle/>
          <a:p>
            <a:pPr indent="0" marL="0">
              <a:buNone/>
            </a:pPr>
            <a:r>
              <a:rPr lang="en-US" sz="1200" b="1" dirty="0">
                <a:solidFill>
                  <a:srgbClr val="023436"/>
                </a:solidFill>
                <a:latin typeface="Calibri" pitchFamily="34" charset="0"/>
                <a:ea typeface="Calibri" pitchFamily="34" charset="-122"/>
                <a:cs typeface="Calibri" pitchFamily="34" charset="-120"/>
              </a:rPr>
              <a:t>VALID</a:t>
            </a:r>
            <a:endParaRPr lang="en-US" sz="1200" dirty="0"/>
          </a:p>
        </p:txBody>
      </p:sp>
      <p:sp>
        <p:nvSpPr>
          <p:cNvPr id="9" name="Text 7"/>
          <p:cNvSpPr/>
          <p:nvPr/>
        </p:nvSpPr>
        <p:spPr>
          <a:xfrm>
            <a:off x="960120" y="4389120"/>
            <a:ext cx="1920240" cy="822960"/>
          </a:xfrm>
          <a:prstGeom prst="rect">
            <a:avLst/>
          </a:prstGeom>
          <a:noFill/>
          <a:ln/>
        </p:spPr>
        <p:txBody>
          <a:bodyPr wrap="square" rtlCol="0" anchor="t"/>
          <a:lstStyle/>
          <a:p>
            <a:pPr indent="0" marL="0">
              <a:buNone/>
            </a:pPr>
            <a:r>
              <a:rPr lang="en-US" sz="1150" dirty="0">
                <a:solidFill>
                  <a:srgbClr val="023436"/>
                </a:solidFill>
                <a:latin typeface="Calibri" pitchFamily="34" charset="0"/>
                <a:ea typeface="Calibri" pitchFamily="34" charset="-122"/>
                <a:cs typeface="Calibri" pitchFamily="34" charset="-120"/>
              </a:rPr>
              <a:t>0.50 mL usage</a:t>
            </a:r>
            <a:endParaRPr lang="en-US" sz="1150" dirty="0"/>
          </a:p>
          <a:p>
            <a:pPr indent="0" marL="0">
              <a:buNone/>
            </a:pPr>
            <a:r>
              <a:rPr lang="en-US" sz="1150" dirty="0">
                <a:solidFill>
                  <a:srgbClr val="023436"/>
                </a:solidFill>
                <a:latin typeface="Calibri" pitchFamily="34" charset="0"/>
                <a:ea typeface="Calibri" pitchFamily="34" charset="-122"/>
                <a:cs typeface="Calibri" pitchFamily="34" charset="-120"/>
              </a:rPr>
              <a:t>inserted successfully</a:t>
            </a:r>
            <a:endParaRPr lang="en-US" sz="1150" dirty="0"/>
          </a:p>
        </p:txBody>
      </p:sp>
      <p:sp>
        <p:nvSpPr>
          <p:cNvPr id="10" name="Shape 8"/>
          <p:cNvSpPr/>
          <p:nvPr/>
        </p:nvSpPr>
        <p:spPr>
          <a:xfrm>
            <a:off x="3154680" y="3931920"/>
            <a:ext cx="2286000" cy="1417320"/>
          </a:xfrm>
          <a:prstGeom prst="roundRect">
            <a:avLst>
              <a:gd name="adj" fmla="val 5161"/>
            </a:avLst>
          </a:prstGeom>
          <a:solidFill>
            <a:srgbClr val="C9432E"/>
          </a:solidFill>
          <a:ln/>
        </p:spPr>
      </p:sp>
      <p:sp>
        <p:nvSpPr>
          <p:cNvPr id="11" name="Text 9"/>
          <p:cNvSpPr/>
          <p:nvPr/>
        </p:nvSpPr>
        <p:spPr>
          <a:xfrm>
            <a:off x="3291840" y="4069080"/>
            <a:ext cx="201168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INVALID</a:t>
            </a:r>
            <a:endParaRPr lang="en-US" sz="1200" dirty="0"/>
          </a:p>
        </p:txBody>
      </p:sp>
      <p:sp>
        <p:nvSpPr>
          <p:cNvPr id="12" name="Text 10"/>
          <p:cNvSpPr/>
          <p:nvPr/>
        </p:nvSpPr>
        <p:spPr>
          <a:xfrm>
            <a:off x="3291840" y="4389120"/>
            <a:ext cx="2011680" cy="82296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5.00 mL requested from a 2.00 mL aliquot — rejected</a:t>
            </a:r>
            <a:endParaRPr lang="en-US" sz="1100" dirty="0"/>
          </a:p>
        </p:txBody>
      </p:sp>
      <p:sp>
        <p:nvSpPr>
          <p:cNvPr id="13" name="Shape 11"/>
          <p:cNvSpPr/>
          <p:nvPr/>
        </p:nvSpPr>
        <p:spPr>
          <a:xfrm>
            <a:off x="5852160" y="1737360"/>
            <a:ext cx="5806440" cy="4709160"/>
          </a:xfrm>
          <a:prstGeom prst="roundRect">
            <a:avLst>
              <a:gd name="adj" fmla="val 1165"/>
            </a:avLst>
          </a:prstGeom>
          <a:solidFill>
            <a:srgbClr val="FFFFFF"/>
          </a:solidFill>
          <a:ln/>
        </p:spPr>
      </p:sp>
      <p:pic>
        <p:nvPicPr>
          <p:cNvPr id="14" name="Image 0" descr="/home/claude/assets/trigger.png">    </p:cNvPr>
          <p:cNvPicPr>
            <a:picLocks noChangeAspect="1"/>
          </p:cNvPicPr>
          <p:nvPr/>
        </p:nvPicPr>
        <p:blipFill>
          <a:blip r:embed="rId1"/>
          <a:stretch>
            <a:fillRect/>
          </a:stretch>
        </p:blipFill>
        <p:spPr>
          <a:xfrm>
            <a:off x="5943600" y="1828800"/>
            <a:ext cx="5623560" cy="3246120"/>
          </a:xfrm>
          <a:prstGeom prst="rect">
            <a:avLst/>
          </a:prstGeom>
        </p:spPr>
      </p:pic>
      <p:sp>
        <p:nvSpPr>
          <p:cNvPr id="15" name="Text 12"/>
          <p:cNvSpPr/>
          <p:nvPr/>
        </p:nvSpPr>
        <p:spPr>
          <a:xfrm>
            <a:off x="5943600" y="5166360"/>
            <a:ext cx="5623560" cy="1188720"/>
          </a:xfrm>
          <a:prstGeom prst="rect">
            <a:avLst/>
          </a:prstGeom>
          <a:noFill/>
          <a:ln/>
        </p:spPr>
        <p:txBody>
          <a:bodyPr wrap="square" rtlCol="0" anchor="t"/>
          <a:lstStyle/>
          <a:p>
            <a:pPr indent="0" marL="0">
              <a:buNone/>
            </a:pPr>
            <a:r>
              <a:rPr lang="en-US" sz="1200" i="1" dirty="0">
                <a:solidFill>
                  <a:srgbClr val="0C2B2E"/>
                </a:solidFill>
                <a:latin typeface="Calibri" pitchFamily="34" charset="0"/>
                <a:ea typeface="Calibri" pitchFamily="34" charset="-122"/>
                <a:cs typeface="Calibri" pitchFamily="34" charset="-120"/>
              </a:rPr>
              <a:t>Error returned: "Used volume exceeds available aliquot volume."</a:t>
            </a:r>
            <a:endParaRPr lang="en-US" sz="1200" dirty="0"/>
          </a:p>
        </p:txBody>
      </p:sp>
      <p:sp>
        <p:nvSpPr>
          <p:cNvPr id="16" name="Text 13"/>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6FA8AA"/>
                </a:solidFill>
                <a:latin typeface="Calibri" pitchFamily="34" charset="0"/>
                <a:ea typeface="Calibri" pitchFamily="34" charset="-122"/>
                <a:cs typeface="Calibri" pitchFamily="34" charset="-120"/>
              </a:rPr>
              <a:t>Biobank &amp; Biospecimen Management System</a:t>
            </a:r>
            <a:endParaRPr lang="en-US" sz="900" dirty="0"/>
          </a:p>
        </p:txBody>
      </p:sp>
      <p:sp>
        <p:nvSpPr>
          <p:cNvPr id="17" name="Text 1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FA8A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VERIFICATION</a:t>
            </a:r>
            <a:endParaRPr lang="en-US" sz="12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0C2B2E"/>
                </a:solidFill>
                <a:latin typeface="Cambria" pitchFamily="34" charset="0"/>
                <a:ea typeface="Cambria" pitchFamily="34" charset="-122"/>
                <a:cs typeface="Cambria" pitchFamily="34" charset="-120"/>
              </a:rPr>
              <a:t>Testing &amp; Results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840480"/>
        </p:xfrm>
        <a:graphic>
          <a:graphicData uri="http://schemas.openxmlformats.org/drawingml/2006/table">
            <a:tbl>
              <a:tblPr/>
              <a:tblGrid>
                <a:gridCol w="2377440"/>
                <a:gridCol w="5120640"/>
                <a:gridCol w="3566160"/>
              </a:tblGrid>
              <a:tr h="603504">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Test</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Action</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r>
              <a:tr h="603504">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Valid usage</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Insert 0.50 mL usage against available aliquot</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Inserted successfully</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r>
              <a:tr h="603504">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Invalid usage</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Insert 5.00 mL against a 2.00 mL aliquot</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Rejected by trigger with error</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r>
              <a:tr h="603504">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Views</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Query sample_inventory &amp; research_activity</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Correct combined results returned</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r>
              <a:tr h="603504">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Joins &amp; aggregation</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Multi-table joins, counts, averages</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Executed successfully</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r>
              <a:tr h="603504">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Data modification</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INSERT / UPDATE / DELETE operations</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c>
                  <a:txBody>
                    <a:bodyPr/>
                    <a:lstStyle/>
                    <a:p>
                      <a:pPr indent="0" marL="0">
                        <a:buNone/>
                      </a:pPr>
                      <a:r>
                        <a:rPr lang="en-US" sz="1250" dirty="0">
                          <a:solidFill>
                            <a:srgbClr val="0C2B2E"/>
                          </a:solidFill>
                          <a:latin typeface="Calibri" pitchFamily="34" charset="0"/>
                          <a:ea typeface="Calibri" pitchFamily="34" charset="-122"/>
                          <a:cs typeface="Calibri" pitchFamily="34" charset="-120"/>
                        </a:rPr>
                        <a:t>All applied and verified</a:t>
                      </a:r>
                      <a:endParaRPr lang="en-US" sz="1250" dirty="0">
                        <a:latin typeface="Calibri" charset="0"/>
                        <a:ea typeface="Calibri" charset="0"/>
                        <a:cs typeface="Calibri" charset="0"/>
                      </a:endParaRPr>
                    </a:p>
                  </a:txBody>
                  <a:tcPr marL="91440" marR="91440" marT="45720" marB="45720" anchor="ctr">
                    <a:lnL w="12700" cap="flat" cmpd="sng" algn="ctr">
                      <a:solidFill>
                        <a:srgbClr val="E1EEEC"/>
                      </a:solidFill>
                      <a:prstDash val="solid"/>
                      <a:round/>
                      <a:headEnd type="none" w="med" len="med"/>
                      <a:tailEnd type="none" w="med" len="med"/>
                    </a:lnL>
                    <a:lnR w="12700" cap="flat" cmpd="sng" algn="ctr">
                      <a:solidFill>
                        <a:srgbClr val="E1EEEC"/>
                      </a:solidFill>
                      <a:prstDash val="solid"/>
                      <a:round/>
                      <a:headEnd type="none" w="med" len="med"/>
                      <a:tailEnd type="none" w="med" len="med"/>
                    </a:lnR>
                    <a:lnT w="12700" cap="flat" cmpd="sng" algn="ctr">
                      <a:solidFill>
                        <a:srgbClr val="E1EEEC"/>
                      </a:solidFill>
                      <a:prstDash val="solid"/>
                      <a:round/>
                      <a:headEnd type="none" w="med" len="med"/>
                      <a:tailEnd type="none" w="med" len="med"/>
                    </a:lnT>
                    <a:lnB w="12700" cap="flat" cmpd="sng" algn="ctr">
                      <a:solidFill>
                        <a:srgbClr val="E1EEEC"/>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1691640"/>
            <a:ext cx="11064240" cy="603504"/>
          </a:xfrm>
          <a:prstGeom prst="rect">
            <a:avLst/>
          </a:prstGeom>
          <a:solidFill>
            <a:srgbClr val="028090"/>
          </a:solidFill>
          <a:ln/>
        </p:spPr>
      </p:sp>
      <p:sp>
        <p:nvSpPr>
          <p:cNvPr id="6" name="Text 3"/>
          <p:cNvSpPr/>
          <p:nvPr/>
        </p:nvSpPr>
        <p:spPr>
          <a:xfrm>
            <a:off x="685800" y="1691640"/>
            <a:ext cx="2194560" cy="603504"/>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Test</a:t>
            </a:r>
            <a:endParaRPr lang="en-US" sz="1250" dirty="0"/>
          </a:p>
        </p:txBody>
      </p:sp>
      <p:sp>
        <p:nvSpPr>
          <p:cNvPr id="7" name="Text 4"/>
          <p:cNvSpPr/>
          <p:nvPr/>
        </p:nvSpPr>
        <p:spPr>
          <a:xfrm>
            <a:off x="3063240" y="1691640"/>
            <a:ext cx="4937760" cy="603504"/>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Action</a:t>
            </a:r>
            <a:endParaRPr lang="en-US" sz="1250" dirty="0"/>
          </a:p>
        </p:txBody>
      </p:sp>
      <p:sp>
        <p:nvSpPr>
          <p:cNvPr id="8" name="Text 5"/>
          <p:cNvSpPr/>
          <p:nvPr/>
        </p:nvSpPr>
        <p:spPr>
          <a:xfrm>
            <a:off x="8138160" y="1691640"/>
            <a:ext cx="3383280" cy="603504"/>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p>
        </p:txBody>
      </p:sp>
      <p:sp>
        <p:nvSpPr>
          <p:cNvPr id="9" name="Text 6"/>
          <p:cNvSpPr/>
          <p:nvPr/>
        </p:nvSpPr>
        <p:spPr>
          <a:xfrm>
            <a:off x="548640" y="5806440"/>
            <a:ext cx="11064240" cy="457200"/>
          </a:xfrm>
          <a:prstGeom prst="rect">
            <a:avLst/>
          </a:prstGeom>
          <a:noFill/>
          <a:ln/>
        </p:spPr>
        <p:txBody>
          <a:bodyPr wrap="square" rtlCol="0" anchor="ctr"/>
          <a:lstStyle/>
          <a:p>
            <a:pPr indent="0" marL="0">
              <a:buNone/>
            </a:pPr>
            <a:r>
              <a:rPr lang="en-US" sz="1200" i="1" dirty="0">
                <a:solidFill>
                  <a:srgbClr val="5B7C7E"/>
                </a:solidFill>
                <a:latin typeface="Calibri" pitchFamily="34" charset="0"/>
                <a:ea typeface="Calibri" pitchFamily="34" charset="-122"/>
                <a:cs typeface="Calibri" pitchFamily="34" charset="-120"/>
              </a:rPr>
              <a:t>All business rules and SQL operations — queries, joins, aggregation, subqueries, views, and the trigger — were verified with real test data.</a:t>
            </a:r>
            <a:endParaRPr lang="en-US" sz="1200" dirty="0"/>
          </a:p>
        </p:txBody>
      </p:sp>
      <p:sp>
        <p:nvSpPr>
          <p:cNvPr id="10" name="Text 7"/>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5B7C7E"/>
                </a:solidFill>
                <a:latin typeface="Calibri" pitchFamily="34" charset="0"/>
                <a:ea typeface="Calibri" pitchFamily="34" charset="-122"/>
                <a:cs typeface="Calibri" pitchFamily="34" charset="-120"/>
              </a:rPr>
              <a:t>Biobank &amp; Biospecimen Management System</a:t>
            </a:r>
            <a:endParaRPr lang="en-US" sz="900" dirty="0"/>
          </a:p>
        </p:txBody>
      </p:sp>
      <p:sp>
        <p:nvSpPr>
          <p:cNvPr id="11" name="Text 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7C7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10607040" y="640080"/>
            <a:ext cx="146304" cy="146304"/>
          </a:xfrm>
          <a:prstGeom prst="ellipse">
            <a:avLst/>
          </a:prstGeom>
          <a:solidFill>
            <a:srgbClr val="02C39A"/>
          </a:solidFill>
          <a:ln/>
        </p:spPr>
      </p:sp>
      <p:sp>
        <p:nvSpPr>
          <p:cNvPr id="3" name="Shape 1"/>
          <p:cNvSpPr/>
          <p:nvPr/>
        </p:nvSpPr>
        <p:spPr>
          <a:xfrm>
            <a:off x="11064240" y="1051560"/>
            <a:ext cx="146304" cy="146304"/>
          </a:xfrm>
          <a:prstGeom prst="ellipse">
            <a:avLst/>
          </a:prstGeom>
          <a:solidFill>
            <a:srgbClr val="00A896"/>
          </a:solidFill>
          <a:ln/>
        </p:spPr>
      </p:sp>
      <p:sp>
        <p:nvSpPr>
          <p:cNvPr id="4" name="Shape 2"/>
          <p:cNvSpPr/>
          <p:nvPr/>
        </p:nvSpPr>
        <p:spPr>
          <a:xfrm>
            <a:off x="822960" y="5760720"/>
            <a:ext cx="146304" cy="146304"/>
          </a:xfrm>
          <a:prstGeom prst="ellipse">
            <a:avLst/>
          </a:prstGeom>
          <a:solidFill>
            <a:srgbClr val="00A896"/>
          </a:solidFill>
          <a:ln/>
        </p:spPr>
      </p:sp>
      <p:sp>
        <p:nvSpPr>
          <p:cNvPr id="5" name="Shape 3"/>
          <p:cNvSpPr/>
          <p:nvPr/>
        </p:nvSpPr>
        <p:spPr>
          <a:xfrm>
            <a:off x="1234440" y="6126480"/>
            <a:ext cx="146304" cy="146304"/>
          </a:xfrm>
          <a:prstGeom prst="ellipse">
            <a:avLst/>
          </a:prstGeom>
          <a:solidFill>
            <a:srgbClr val="02C39A"/>
          </a:solidFill>
          <a:ln/>
        </p:spPr>
      </p:sp>
      <p:sp>
        <p:nvSpPr>
          <p:cNvPr id="6" name="Text 4"/>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CONCLUSION</a:t>
            </a:r>
            <a:endParaRPr lang="en-US" sz="1200" dirty="0"/>
          </a:p>
        </p:txBody>
      </p:sp>
      <p:sp>
        <p:nvSpPr>
          <p:cNvPr id="7" name="Text 5"/>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Complete Database Development Lifecycle</a:t>
            </a:r>
            <a:endParaRPr lang="en-US" sz="3200" dirty="0"/>
          </a:p>
        </p:txBody>
      </p:sp>
      <p:sp>
        <p:nvSpPr>
          <p:cNvPr id="8" name="Text 6"/>
          <p:cNvSpPr/>
          <p:nvPr/>
        </p:nvSpPr>
        <p:spPr>
          <a:xfrm>
            <a:off x="548640" y="1828800"/>
            <a:ext cx="6675120" cy="1554480"/>
          </a:xfrm>
          <a:prstGeom prst="rect">
            <a:avLst/>
          </a:prstGeom>
          <a:noFill/>
          <a:ln/>
        </p:spPr>
        <p:txBody>
          <a:bodyPr wrap="square" rtlCol="0" anchor="t"/>
          <a:lstStyle/>
          <a:p>
            <a:pPr indent="0" marL="0">
              <a:lnSpc>
                <a:spcPct val="130000"/>
              </a:lnSpc>
              <a:buNone/>
            </a:pPr>
            <a:r>
              <a:rPr lang="en-US" sz="1450" dirty="0">
                <a:solidFill>
                  <a:srgbClr val="D7EFEC"/>
                </a:solidFill>
                <a:latin typeface="Calibri" pitchFamily="34" charset="0"/>
                <a:ea typeface="Calibri" pitchFamily="34" charset="-122"/>
                <a:cs typeface="Calibri" pitchFamily="34" charset="-120"/>
              </a:rPr>
              <a:t>This project delivered a fully normalized (3NF) relational database of 11 tables for managing a biobank — from requirements and ER modeling through implementation, querying, views, a business-rule trigger, and full testing in MySQL.</a:t>
            </a:r>
            <a:endParaRPr lang="en-US" sz="1450" dirty="0"/>
          </a:p>
        </p:txBody>
      </p:sp>
      <p:sp>
        <p:nvSpPr>
          <p:cNvPr id="9" name="Text 7"/>
          <p:cNvSpPr/>
          <p:nvPr/>
        </p:nvSpPr>
        <p:spPr>
          <a:xfrm>
            <a:off x="548640" y="3520440"/>
            <a:ext cx="1554480" cy="685800"/>
          </a:xfrm>
          <a:prstGeom prst="rect">
            <a:avLst/>
          </a:prstGeom>
          <a:noFill/>
          <a:ln/>
        </p:spPr>
        <p:txBody>
          <a:bodyPr wrap="square" rtlCol="0" anchor="ctr"/>
          <a:lstStyle/>
          <a:p>
            <a:pPr algn="l" indent="0" marL="0">
              <a:buNone/>
            </a:pPr>
            <a:r>
              <a:rPr lang="en-US" sz="3400" b="1" dirty="0">
                <a:solidFill>
                  <a:srgbClr val="02C39A"/>
                </a:solidFill>
                <a:latin typeface="Cambria" pitchFamily="34" charset="0"/>
                <a:ea typeface="Cambria" pitchFamily="34" charset="-122"/>
                <a:cs typeface="Cambria" pitchFamily="34" charset="-120"/>
              </a:rPr>
              <a:t>11</a:t>
            </a:r>
            <a:endParaRPr lang="en-US" sz="3400" dirty="0"/>
          </a:p>
        </p:txBody>
      </p:sp>
      <p:sp>
        <p:nvSpPr>
          <p:cNvPr id="10" name="Text 8"/>
          <p:cNvSpPr/>
          <p:nvPr/>
        </p:nvSpPr>
        <p:spPr>
          <a:xfrm>
            <a:off x="548640" y="4160520"/>
            <a:ext cx="1554480" cy="365760"/>
          </a:xfrm>
          <a:prstGeom prst="rect">
            <a:avLst/>
          </a:prstGeom>
          <a:noFill/>
          <a:ln/>
        </p:spPr>
        <p:txBody>
          <a:bodyPr wrap="square" rtlCol="0" anchor="ctr"/>
          <a:lstStyle/>
          <a:p>
            <a:pPr algn="l" indent="0" marL="0">
              <a:buNone/>
            </a:pPr>
            <a:r>
              <a:rPr lang="en-US" sz="1200" dirty="0">
                <a:solidFill>
                  <a:srgbClr val="9FD4D0"/>
                </a:solidFill>
                <a:latin typeface="Calibri" pitchFamily="34" charset="0"/>
                <a:ea typeface="Calibri" pitchFamily="34" charset="-122"/>
                <a:cs typeface="Calibri" pitchFamily="34" charset="-120"/>
              </a:rPr>
              <a:t>Tables</a:t>
            </a:r>
            <a:endParaRPr lang="en-US" sz="1200" dirty="0"/>
          </a:p>
        </p:txBody>
      </p:sp>
      <p:sp>
        <p:nvSpPr>
          <p:cNvPr id="11" name="Text 9"/>
          <p:cNvSpPr/>
          <p:nvPr/>
        </p:nvSpPr>
        <p:spPr>
          <a:xfrm>
            <a:off x="2286000" y="3520440"/>
            <a:ext cx="1554480" cy="685800"/>
          </a:xfrm>
          <a:prstGeom prst="rect">
            <a:avLst/>
          </a:prstGeom>
          <a:noFill/>
          <a:ln/>
        </p:spPr>
        <p:txBody>
          <a:bodyPr wrap="square" rtlCol="0" anchor="ctr"/>
          <a:lstStyle/>
          <a:p>
            <a:pPr algn="l" indent="0" marL="0">
              <a:buNone/>
            </a:pPr>
            <a:r>
              <a:rPr lang="en-US" sz="3400" b="1" dirty="0">
                <a:solidFill>
                  <a:srgbClr val="02C39A"/>
                </a:solidFill>
                <a:latin typeface="Cambria" pitchFamily="34" charset="0"/>
                <a:ea typeface="Cambria" pitchFamily="34" charset="-122"/>
                <a:cs typeface="Cambria" pitchFamily="34" charset="-120"/>
              </a:rPr>
              <a:t>3NF</a:t>
            </a:r>
            <a:endParaRPr lang="en-US" sz="3400" dirty="0"/>
          </a:p>
        </p:txBody>
      </p:sp>
      <p:sp>
        <p:nvSpPr>
          <p:cNvPr id="12" name="Text 10"/>
          <p:cNvSpPr/>
          <p:nvPr/>
        </p:nvSpPr>
        <p:spPr>
          <a:xfrm>
            <a:off x="2286000" y="4160520"/>
            <a:ext cx="1554480" cy="365760"/>
          </a:xfrm>
          <a:prstGeom prst="rect">
            <a:avLst/>
          </a:prstGeom>
          <a:noFill/>
          <a:ln/>
        </p:spPr>
        <p:txBody>
          <a:bodyPr wrap="square" rtlCol="0" anchor="ctr"/>
          <a:lstStyle/>
          <a:p>
            <a:pPr algn="l" indent="0" marL="0">
              <a:buNone/>
            </a:pPr>
            <a:r>
              <a:rPr lang="en-US" sz="1200" dirty="0">
                <a:solidFill>
                  <a:srgbClr val="9FD4D0"/>
                </a:solidFill>
                <a:latin typeface="Calibri" pitchFamily="34" charset="0"/>
                <a:ea typeface="Calibri" pitchFamily="34" charset="-122"/>
                <a:cs typeface="Calibri" pitchFamily="34" charset="-120"/>
              </a:rPr>
              <a:t>Normalized</a:t>
            </a:r>
            <a:endParaRPr lang="en-US" sz="1200" dirty="0"/>
          </a:p>
        </p:txBody>
      </p:sp>
      <p:sp>
        <p:nvSpPr>
          <p:cNvPr id="13" name="Text 11"/>
          <p:cNvSpPr/>
          <p:nvPr/>
        </p:nvSpPr>
        <p:spPr>
          <a:xfrm>
            <a:off x="4023360" y="3520440"/>
            <a:ext cx="1554480" cy="685800"/>
          </a:xfrm>
          <a:prstGeom prst="rect">
            <a:avLst/>
          </a:prstGeom>
          <a:noFill/>
          <a:ln/>
        </p:spPr>
        <p:txBody>
          <a:bodyPr wrap="square" rtlCol="0" anchor="ctr"/>
          <a:lstStyle/>
          <a:p>
            <a:pPr algn="l" indent="0" marL="0">
              <a:buNone/>
            </a:pPr>
            <a:r>
              <a:rPr lang="en-US" sz="3400" b="1" dirty="0">
                <a:solidFill>
                  <a:srgbClr val="02C39A"/>
                </a:solidFill>
                <a:latin typeface="Cambria" pitchFamily="34" charset="0"/>
                <a:ea typeface="Cambria" pitchFamily="34" charset="-122"/>
                <a:cs typeface="Cambria" pitchFamily="34" charset="-120"/>
              </a:rPr>
              <a:t>2</a:t>
            </a:r>
            <a:endParaRPr lang="en-US" sz="3400" dirty="0"/>
          </a:p>
        </p:txBody>
      </p:sp>
      <p:sp>
        <p:nvSpPr>
          <p:cNvPr id="14" name="Text 12"/>
          <p:cNvSpPr/>
          <p:nvPr/>
        </p:nvSpPr>
        <p:spPr>
          <a:xfrm>
            <a:off x="4023360" y="4160520"/>
            <a:ext cx="1554480" cy="365760"/>
          </a:xfrm>
          <a:prstGeom prst="rect">
            <a:avLst/>
          </a:prstGeom>
          <a:noFill/>
          <a:ln/>
        </p:spPr>
        <p:txBody>
          <a:bodyPr wrap="square" rtlCol="0" anchor="ctr"/>
          <a:lstStyle/>
          <a:p>
            <a:pPr algn="l" indent="0" marL="0">
              <a:buNone/>
            </a:pPr>
            <a:r>
              <a:rPr lang="en-US" sz="1200" dirty="0">
                <a:solidFill>
                  <a:srgbClr val="9FD4D0"/>
                </a:solidFill>
                <a:latin typeface="Calibri" pitchFamily="34" charset="0"/>
                <a:ea typeface="Calibri" pitchFamily="34" charset="-122"/>
                <a:cs typeface="Calibri" pitchFamily="34" charset="-120"/>
              </a:rPr>
              <a:t>Views</a:t>
            </a:r>
            <a:endParaRPr lang="en-US" sz="1200" dirty="0"/>
          </a:p>
        </p:txBody>
      </p:sp>
      <p:sp>
        <p:nvSpPr>
          <p:cNvPr id="15" name="Text 13"/>
          <p:cNvSpPr/>
          <p:nvPr/>
        </p:nvSpPr>
        <p:spPr>
          <a:xfrm>
            <a:off x="5760720" y="3520440"/>
            <a:ext cx="1554480" cy="685800"/>
          </a:xfrm>
          <a:prstGeom prst="rect">
            <a:avLst/>
          </a:prstGeom>
          <a:noFill/>
          <a:ln/>
        </p:spPr>
        <p:txBody>
          <a:bodyPr wrap="square" rtlCol="0" anchor="ctr"/>
          <a:lstStyle/>
          <a:p>
            <a:pPr algn="l" indent="0" marL="0">
              <a:buNone/>
            </a:pPr>
            <a:r>
              <a:rPr lang="en-US" sz="3400" b="1" dirty="0">
                <a:solidFill>
                  <a:srgbClr val="02C39A"/>
                </a:solidFill>
                <a:latin typeface="Cambria" pitchFamily="34" charset="0"/>
                <a:ea typeface="Cambria" pitchFamily="34" charset="-122"/>
                <a:cs typeface="Cambria" pitchFamily="34" charset="-120"/>
              </a:rPr>
              <a:t>1</a:t>
            </a:r>
            <a:endParaRPr lang="en-US" sz="3400" dirty="0"/>
          </a:p>
        </p:txBody>
      </p:sp>
      <p:sp>
        <p:nvSpPr>
          <p:cNvPr id="16" name="Text 14"/>
          <p:cNvSpPr/>
          <p:nvPr/>
        </p:nvSpPr>
        <p:spPr>
          <a:xfrm>
            <a:off x="5760720" y="4160520"/>
            <a:ext cx="1554480" cy="365760"/>
          </a:xfrm>
          <a:prstGeom prst="rect">
            <a:avLst/>
          </a:prstGeom>
          <a:noFill/>
          <a:ln/>
        </p:spPr>
        <p:txBody>
          <a:bodyPr wrap="square" rtlCol="0" anchor="ctr"/>
          <a:lstStyle/>
          <a:p>
            <a:pPr algn="l" indent="0" marL="0">
              <a:buNone/>
            </a:pPr>
            <a:r>
              <a:rPr lang="en-US" sz="1200" dirty="0">
                <a:solidFill>
                  <a:srgbClr val="9FD4D0"/>
                </a:solidFill>
                <a:latin typeface="Calibri" pitchFamily="34" charset="0"/>
                <a:ea typeface="Calibri" pitchFamily="34" charset="-122"/>
                <a:cs typeface="Calibri" pitchFamily="34" charset="-120"/>
              </a:rPr>
              <a:t>Trigger</a:t>
            </a:r>
            <a:endParaRPr lang="en-US" sz="1200" dirty="0"/>
          </a:p>
        </p:txBody>
      </p:sp>
      <p:sp>
        <p:nvSpPr>
          <p:cNvPr id="17" name="Text 15"/>
          <p:cNvSpPr/>
          <p:nvPr/>
        </p:nvSpPr>
        <p:spPr>
          <a:xfrm>
            <a:off x="548640" y="4892040"/>
            <a:ext cx="6675120" cy="640080"/>
          </a:xfrm>
          <a:prstGeom prst="rect">
            <a:avLst/>
          </a:prstGeom>
          <a:noFill/>
          <a:ln/>
        </p:spPr>
        <p:txBody>
          <a:bodyPr wrap="square" rtlCol="0" anchor="t"/>
          <a:lstStyle/>
          <a:p>
            <a:pPr indent="0" marL="0">
              <a:buNone/>
            </a:pPr>
            <a:r>
              <a:rPr lang="en-US" sz="1150" i="1" dirty="0">
                <a:solidFill>
                  <a:srgbClr val="8FC4C0"/>
                </a:solidFill>
                <a:latin typeface="Calibri" pitchFamily="34" charset="0"/>
                <a:ea typeface="Calibri" pitchFamily="34" charset="-122"/>
                <a:cs typeface="Calibri" pitchFamily="34" charset="-120"/>
              </a:rPr>
              <a:t>Limitation: focused on database management — no GUI is included in the core system (optional bonus scope).</a:t>
            </a:r>
            <a:endParaRPr lang="en-US" sz="1150" dirty="0"/>
          </a:p>
        </p:txBody>
      </p:sp>
      <p:sp>
        <p:nvSpPr>
          <p:cNvPr id="18" name="Shape 16"/>
          <p:cNvSpPr/>
          <p:nvPr/>
        </p:nvSpPr>
        <p:spPr>
          <a:xfrm>
            <a:off x="7635240" y="1828800"/>
            <a:ext cx="4023360" cy="3977640"/>
          </a:xfrm>
          <a:prstGeom prst="roundRect">
            <a:avLst>
              <a:gd name="adj" fmla="val 2299"/>
            </a:avLst>
          </a:prstGeom>
          <a:solidFill>
            <a:srgbClr val="0B4547"/>
          </a:solidFill>
          <a:ln/>
        </p:spPr>
      </p:sp>
      <p:sp>
        <p:nvSpPr>
          <p:cNvPr id="19" name="Text 17"/>
          <p:cNvSpPr/>
          <p:nvPr/>
        </p:nvSpPr>
        <p:spPr>
          <a:xfrm>
            <a:off x="7909560" y="2103120"/>
            <a:ext cx="3474720" cy="50292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20" name="Text 18"/>
          <p:cNvSpPr/>
          <p:nvPr/>
        </p:nvSpPr>
        <p:spPr>
          <a:xfrm>
            <a:off x="7909560" y="2697480"/>
            <a:ext cx="3474720" cy="822960"/>
          </a:xfrm>
          <a:prstGeom prst="rect">
            <a:avLst/>
          </a:prstGeom>
          <a:noFill/>
          <a:ln/>
        </p:spPr>
        <p:txBody>
          <a:bodyPr wrap="square" rtlCol="0" anchor="ctr"/>
          <a:lstStyle/>
          <a:p>
            <a:pPr indent="0" marL="0">
              <a:buNone/>
            </a:pPr>
            <a:r>
              <a:rPr lang="en-US" sz="1400" i="1" dirty="0">
                <a:solidFill>
                  <a:srgbClr val="02C39A"/>
                </a:solidFill>
                <a:latin typeface="Calibri" pitchFamily="34" charset="0"/>
                <a:ea typeface="Calibri" pitchFamily="34" charset="-122"/>
                <a:cs typeface="Calibri" pitchFamily="34" charset="-120"/>
              </a:rPr>
              <a:t>Questions &amp; Live Database</a:t>
            </a:r>
            <a:endParaRPr lang="en-US" sz="1400" dirty="0"/>
          </a:p>
          <a:p>
            <a:pPr indent="0" marL="0">
              <a:buNone/>
            </a:pPr>
            <a:r>
              <a:rPr lang="en-US" sz="1400" i="1" dirty="0">
                <a:solidFill>
                  <a:srgbClr val="02C39A"/>
                </a:solidFill>
                <a:latin typeface="Calibri" pitchFamily="34" charset="0"/>
                <a:ea typeface="Calibri" pitchFamily="34" charset="-122"/>
                <a:cs typeface="Calibri" pitchFamily="34" charset="-120"/>
              </a:rPr>
              <a:t>Demonstration</a:t>
            </a:r>
            <a:endParaRPr lang="en-US" sz="1400" dirty="0"/>
          </a:p>
        </p:txBody>
      </p:sp>
      <p:sp>
        <p:nvSpPr>
          <p:cNvPr id="21" name="Text 19"/>
          <p:cNvSpPr/>
          <p:nvPr/>
        </p:nvSpPr>
        <p:spPr>
          <a:xfrm>
            <a:off x="7909560" y="5029200"/>
            <a:ext cx="3474720" cy="64008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Mohamed Rateb</a:t>
            </a:r>
            <a:endParaRPr lang="en-US" sz="1300" dirty="0"/>
          </a:p>
          <a:p>
            <a:pPr indent="0" marL="0">
              <a:buNone/>
            </a:pPr>
            <a:r>
              <a:rPr lang="en-US" sz="1200" dirty="0">
                <a:solidFill>
                  <a:srgbClr val="BFE3E0"/>
                </a:solidFill>
                <a:latin typeface="Calibri" pitchFamily="34" charset="0"/>
                <a:ea typeface="Calibri" pitchFamily="34" charset="-122"/>
                <a:cs typeface="Calibri" pitchFamily="34" charset="-120"/>
              </a:rPr>
              <a:t>Student ID: 231002599</a:t>
            </a:r>
            <a:endParaRPr lang="en-US" sz="1300" dirty="0"/>
          </a:p>
        </p:txBody>
      </p:sp>
      <p:sp>
        <p:nvSpPr>
          <p:cNvPr id="22" name="Text 20"/>
          <p:cNvSpPr/>
          <p:nvPr/>
        </p:nvSpPr>
        <p:spPr>
          <a:xfrm>
            <a:off x="457200" y="6473952"/>
            <a:ext cx="6400800" cy="274320"/>
          </a:xfrm>
          <a:prstGeom prst="rect">
            <a:avLst/>
          </a:prstGeom>
          <a:noFill/>
          <a:ln/>
        </p:spPr>
        <p:txBody>
          <a:bodyPr wrap="square" rtlCol="0" anchor="ctr"/>
          <a:lstStyle/>
          <a:p>
            <a:pPr indent="0" marL="0">
              <a:buNone/>
            </a:pPr>
            <a:r>
              <a:rPr lang="en-US" sz="900" i="1" dirty="0">
                <a:solidFill>
                  <a:srgbClr val="6FA8AA"/>
                </a:solidFill>
                <a:latin typeface="Calibri" pitchFamily="34" charset="0"/>
                <a:ea typeface="Calibri" pitchFamily="34" charset="-122"/>
                <a:cs typeface="Calibri" pitchFamily="34" charset="-120"/>
              </a:rPr>
              <a:t>Biobank &amp; Biospecimen Management System</a:t>
            </a:r>
            <a:endParaRPr lang="en-US" sz="900" dirty="0"/>
          </a:p>
        </p:txBody>
      </p:sp>
      <p:sp>
        <p:nvSpPr>
          <p:cNvPr id="23" name="Text 2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FA8A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2026-08-15T14:21:37Z</dcterms:created>
  <dcterms:modified xsi:type="dcterms:W3CDTF">2026-08-15T14:21:37Z</dcterms:modified>
</cp:coreProperties>
</file>